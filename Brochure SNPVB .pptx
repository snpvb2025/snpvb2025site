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9" userDrawn="1">
          <p15:clr>
            <a:srgbClr val="A4A3A4"/>
          </p15:clr>
        </p15:guide>
        <p15:guide id="2" pos="3120" userDrawn="1">
          <p15:clr>
            <a:srgbClr val="A4A3A4"/>
          </p15:clr>
        </p15:guide>
        <p15:guide id="3" pos="6091" userDrawn="1">
          <p15:clr>
            <a:srgbClr val="A4A3A4"/>
          </p15:clr>
        </p15:guide>
        <p15:guide id="4" pos="126" userDrawn="1">
          <p15:clr>
            <a:srgbClr val="A4A3A4"/>
          </p15:clr>
        </p15:guide>
        <p15:guide id="5" orient="horz" pos="2251" userDrawn="1">
          <p15:clr>
            <a:srgbClr val="A4A3A4"/>
          </p15:clr>
        </p15:guide>
        <p15:guide id="6" orient="horz" pos="42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0B0"/>
    <a:srgbClr val="6E9E9E"/>
    <a:srgbClr val="CFD5BE"/>
    <a:srgbClr val="93B8C8"/>
    <a:srgbClr val="D5E2EA"/>
    <a:srgbClr val="D4E3EA"/>
    <a:srgbClr val="8AA478"/>
    <a:srgbClr val="858997"/>
    <a:srgbClr val="E3D9A6"/>
    <a:srgbClr val="D1C1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010" autoAdjust="0"/>
  </p:normalViewPr>
  <p:slideViewPr>
    <p:cSldViewPr snapToGrid="0" showGuides="1">
      <p:cViewPr varScale="1">
        <p:scale>
          <a:sx n="70" d="100"/>
          <a:sy n="70" d="100"/>
        </p:scale>
        <p:origin x="1158" y="-6"/>
      </p:cViewPr>
      <p:guideLst>
        <p:guide orient="horz" pos="119"/>
        <p:guide pos="3120"/>
        <p:guide pos="6091"/>
        <p:guide pos="126"/>
        <p:guide orient="horz" pos="2251"/>
        <p:guide orient="horz" pos="4201"/>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2090178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1194361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406727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385999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1158948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2501667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1684133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1416101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237345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1858174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541023-6480-4FF3-AFAC-8A2C28F1195F}" type="datetimeFigureOut">
              <a:rPr lang="fr-FR" smtClean="0"/>
              <a:pPr/>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C84AF4A-B87D-45AA-AB81-BCA526E754EE}" type="slidenum">
              <a:rPr lang="fr-FR" smtClean="0"/>
              <a:pPr/>
              <a:t>‹N°›</a:t>
            </a:fld>
            <a:endParaRPr lang="fr-FR"/>
          </a:p>
        </p:txBody>
      </p:sp>
    </p:spTree>
    <p:extLst>
      <p:ext uri="{BB962C8B-B14F-4D97-AF65-F5344CB8AC3E}">
        <p14:creationId xmlns:p14="http://schemas.microsoft.com/office/powerpoint/2010/main" val="3687662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541023-6480-4FF3-AFAC-8A2C28F1195F}" type="datetimeFigureOut">
              <a:rPr lang="fr-FR" smtClean="0"/>
              <a:pPr/>
              <a:t>07/10/2025</a:t>
            </a:fld>
            <a:endParaRPr lang="fr-FR"/>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84AF4A-B87D-45AA-AB81-BCA526E754EE}" type="slidenum">
              <a:rPr lang="fr-FR" smtClean="0"/>
              <a:pPr/>
              <a:t>‹N°›</a:t>
            </a:fld>
            <a:endParaRPr lang="fr-FR"/>
          </a:p>
        </p:txBody>
      </p:sp>
    </p:spTree>
    <p:extLst>
      <p:ext uri="{BB962C8B-B14F-4D97-AF65-F5344CB8AC3E}">
        <p14:creationId xmlns:p14="http://schemas.microsoft.com/office/powerpoint/2010/main" val="24866967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mailto:snphytobiologie.2025@gmail.com" TargetMode="External"/><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2.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hyperlink" Target="https://forms.gle/VesyQZuB3vGGvqmL8"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10208" y="-25518"/>
            <a:ext cx="9979561" cy="6858000"/>
          </a:xfrm>
          <a:prstGeom prst="flowChartProcess">
            <a:avLst/>
          </a:prstGeom>
          <a:gradFill>
            <a:gsLst>
              <a:gs pos="80000">
                <a:srgbClr val="D5E2EA"/>
              </a:gs>
              <a:gs pos="1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dirty="0"/>
          </a:p>
        </p:txBody>
      </p:sp>
      <p:sp>
        <p:nvSpPr>
          <p:cNvPr id="12" name="Flowchart: Manual Input 11"/>
          <p:cNvSpPr/>
          <p:nvPr/>
        </p:nvSpPr>
        <p:spPr>
          <a:xfrm>
            <a:off x="-244550" y="5107460"/>
            <a:ext cx="10150549" cy="181687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640 h 11640"/>
              <a:gd name="connsiteX1" fmla="*/ 7302 w 10000"/>
              <a:gd name="connsiteY1" fmla="*/ 0 h 11640"/>
              <a:gd name="connsiteX2" fmla="*/ 10000 w 10000"/>
              <a:gd name="connsiteY2" fmla="*/ 1640 h 11640"/>
              <a:gd name="connsiteX3" fmla="*/ 10000 w 10000"/>
              <a:gd name="connsiteY3" fmla="*/ 11640 h 11640"/>
              <a:gd name="connsiteX4" fmla="*/ 0 w 10000"/>
              <a:gd name="connsiteY4" fmla="*/ 11640 h 11640"/>
              <a:gd name="connsiteX5" fmla="*/ 0 w 10000"/>
              <a:gd name="connsiteY5"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1640">
                <a:moveTo>
                  <a:pt x="0" y="3640"/>
                </a:moveTo>
                <a:cubicBezTo>
                  <a:pt x="404" y="2098"/>
                  <a:pt x="1282" y="5177"/>
                  <a:pt x="2736" y="5116"/>
                </a:cubicBezTo>
                <a:cubicBezTo>
                  <a:pt x="4190" y="5055"/>
                  <a:pt x="5702" y="-55"/>
                  <a:pt x="7302" y="0"/>
                </a:cubicBezTo>
                <a:cubicBezTo>
                  <a:pt x="8902" y="55"/>
                  <a:pt x="9101" y="1093"/>
                  <a:pt x="10000" y="1640"/>
                </a:cubicBezTo>
                <a:lnTo>
                  <a:pt x="10000" y="11640"/>
                </a:lnTo>
                <a:lnTo>
                  <a:pt x="0" y="11640"/>
                </a:lnTo>
                <a:lnTo>
                  <a:pt x="0" y="3640"/>
                </a:lnTo>
                <a:close/>
              </a:path>
            </a:pathLst>
          </a:custGeom>
          <a:solidFill>
            <a:schemeClr val="accent1">
              <a:alpha val="48000"/>
            </a:schemeClr>
          </a:solidFill>
          <a:ln w="23812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b="1" dirty="0"/>
          </a:p>
        </p:txBody>
      </p:sp>
      <p:sp>
        <p:nvSpPr>
          <p:cNvPr id="13" name="Hexagon 12"/>
          <p:cNvSpPr/>
          <p:nvPr/>
        </p:nvSpPr>
        <p:spPr>
          <a:xfrm rot="5400000">
            <a:off x="605378" y="192220"/>
            <a:ext cx="2211039" cy="1885268"/>
          </a:xfrm>
          <a:prstGeom prst="hexagon">
            <a:avLst/>
          </a:prstGeom>
          <a:blipFill dpi="0" rotWithShape="0">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grpSp>
        <p:nvGrpSpPr>
          <p:cNvPr id="33" name="Group 32"/>
          <p:cNvGrpSpPr/>
          <p:nvPr/>
        </p:nvGrpSpPr>
        <p:grpSpPr>
          <a:xfrm>
            <a:off x="180975" y="1888756"/>
            <a:ext cx="5317972" cy="3140044"/>
            <a:chOff x="4693893" y="1688813"/>
            <a:chExt cx="5317972" cy="3140044"/>
          </a:xfrm>
        </p:grpSpPr>
        <p:sp>
          <p:nvSpPr>
            <p:cNvPr id="15" name="Hexagon 14"/>
            <p:cNvSpPr/>
            <p:nvPr/>
          </p:nvSpPr>
          <p:spPr>
            <a:xfrm rot="5400000">
              <a:off x="4563972" y="1818735"/>
              <a:ext cx="1746751" cy="1486909"/>
            </a:xfrm>
            <a:prstGeom prst="hexagon">
              <a:avLst/>
            </a:prstGeom>
            <a:blipFill dpi="0" rotWithShape="0">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16" name="Hexagon 15"/>
            <p:cNvSpPr/>
            <p:nvPr/>
          </p:nvSpPr>
          <p:spPr>
            <a:xfrm rot="5400000">
              <a:off x="6099186" y="1818734"/>
              <a:ext cx="1746751" cy="1486909"/>
            </a:xfrm>
            <a:prstGeom prst="hexagon">
              <a:avLst/>
            </a:prstGeom>
            <a:blipFill dpi="0" rotWithShape="0">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17" name="Hexagon 16"/>
            <p:cNvSpPr/>
            <p:nvPr/>
          </p:nvSpPr>
          <p:spPr>
            <a:xfrm rot="5400000">
              <a:off x="8395035" y="3195079"/>
              <a:ext cx="1746751" cy="1486909"/>
            </a:xfrm>
            <a:prstGeom prst="hexagon">
              <a:avLst/>
            </a:prstGeom>
            <a:blipFill dpi="0" rotWithShape="0">
              <a:blip r:embed="rId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18" name="Hexagon 17"/>
            <p:cNvSpPr/>
            <p:nvPr/>
          </p:nvSpPr>
          <p:spPr>
            <a:xfrm rot="5400000">
              <a:off x="5317632" y="3212027"/>
              <a:ext cx="1746751" cy="1486909"/>
            </a:xfrm>
            <a:prstGeom prst="hexagon">
              <a:avLst/>
            </a:prstGeom>
            <a:blipFill dpi="0" rotWithShape="0">
              <a:blip r:embed="rId6"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19" name="Hexagon 18"/>
            <p:cNvSpPr/>
            <p:nvPr/>
          </p:nvSpPr>
          <p:spPr>
            <a:xfrm rot="5400000">
              <a:off x="6842641" y="3212027"/>
              <a:ext cx="1746751" cy="1486909"/>
            </a:xfrm>
            <a:prstGeom prst="hexagon">
              <a:avLst/>
            </a:prstGeom>
            <a:blipFill dpi="0" rotWithShape="0">
              <a:blip r:embed="rId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grpSp>
      <p:pic>
        <p:nvPicPr>
          <p:cNvPr id="21" name="Picture 20"/>
          <p:cNvPicPr>
            <a:picLocks noChangeAspect="1"/>
          </p:cNvPicPr>
          <p:nvPr/>
        </p:nvPicPr>
        <p:blipFill>
          <a:blip r:embed="rId8"/>
          <a:stretch>
            <a:fillRect/>
          </a:stretch>
        </p:blipFill>
        <p:spPr>
          <a:xfrm rot="5400000">
            <a:off x="-2680726" y="2459202"/>
            <a:ext cx="1782903" cy="622805"/>
          </a:xfrm>
          <a:prstGeom prst="rect">
            <a:avLst/>
          </a:prstGeom>
        </p:spPr>
      </p:pic>
      <p:pic>
        <p:nvPicPr>
          <p:cNvPr id="22" name="Picture 4" descr="900+ des meilleures idées de couleurs de la nature à enregistrer  aujourd'hui | palette couleur, decoration, nuancier couleur et bien plus  encore"/>
          <p:cNvPicPr>
            <a:picLocks noChangeAspect="1" noChangeArrowheads="1"/>
          </p:cNvPicPr>
          <p:nvPr/>
        </p:nvPicPr>
        <p:blipFill rotWithShape="1">
          <a:blip r:embed="rId9">
            <a:extLst>
              <a:ext uri="{28A0092B-C50C-407E-A947-70E740481C1C}">
                <a14:useLocalDpi xmlns:a14="http://schemas.microsoft.com/office/drawing/2010/main" val="0"/>
              </a:ext>
            </a:extLst>
          </a:blip>
          <a:srcRect l="67708"/>
          <a:stretch/>
        </p:blipFill>
        <p:spPr bwMode="auto">
          <a:xfrm>
            <a:off x="-1999291" y="3932786"/>
            <a:ext cx="528128" cy="17829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Comment trouver les couleurs de son spa, cabinet ou centre de soin – Mélody  Person Masseuse-Kinésithérapeute – le coKon"/>
          <p:cNvPicPr>
            <a:picLocks noChangeAspect="1" noChangeArrowheads="1"/>
          </p:cNvPicPr>
          <p:nvPr/>
        </p:nvPicPr>
        <p:blipFill rotWithShape="1">
          <a:blip r:embed="rId10">
            <a:extLst>
              <a:ext uri="{28A0092B-C50C-407E-A947-70E740481C1C}">
                <a14:useLocalDpi xmlns:a14="http://schemas.microsoft.com/office/drawing/2010/main" val="0"/>
              </a:ext>
            </a:extLst>
          </a:blip>
          <a:srcRect l="62648"/>
          <a:stretch/>
        </p:blipFill>
        <p:spPr bwMode="auto">
          <a:xfrm>
            <a:off x="-2269522" y="913971"/>
            <a:ext cx="540461" cy="1656247"/>
          </a:xfrm>
          <a:prstGeom prst="rect">
            <a:avLst/>
          </a:prstGeom>
          <a:noFill/>
          <a:extLst>
            <a:ext uri="{909E8E84-426E-40DD-AFC4-6F175D3DCCD1}">
              <a14:hiddenFill xmlns:a14="http://schemas.microsoft.com/office/drawing/2010/main">
                <a:solidFill>
                  <a:srgbClr val="FFFFFF"/>
                </a:solidFill>
              </a14:hiddenFill>
            </a:ext>
          </a:extLst>
        </p:spPr>
      </p:pic>
      <p:sp>
        <p:nvSpPr>
          <p:cNvPr id="29" name="AutoShape 4" descr="Faculté des Sciences – Université Badji Mokhtar-Annab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62" name="Freeform 61"/>
          <p:cNvSpPr/>
          <p:nvPr/>
        </p:nvSpPr>
        <p:spPr>
          <a:xfrm rot="16200000">
            <a:off x="2692091" y="-616983"/>
            <a:ext cx="651101" cy="1810459"/>
          </a:xfrm>
          <a:custGeom>
            <a:avLst/>
            <a:gdLst>
              <a:gd name="connsiteX0" fmla="*/ 651101 w 651101"/>
              <a:gd name="connsiteY0" fmla="*/ 0 h 1810459"/>
              <a:gd name="connsiteX1" fmla="*/ 651100 w 651101"/>
              <a:gd name="connsiteY1" fmla="*/ 1810459 h 1810459"/>
              <a:gd name="connsiteX2" fmla="*/ 452615 w 651101"/>
              <a:gd name="connsiteY2" fmla="*/ 1810459 h 1810459"/>
              <a:gd name="connsiteX3" fmla="*/ 0 w 651101"/>
              <a:gd name="connsiteY3" fmla="*/ 905230 h 1810459"/>
              <a:gd name="connsiteX4" fmla="*/ 452616 w 651101"/>
              <a:gd name="connsiteY4" fmla="*/ 0 h 1810459"/>
              <a:gd name="connsiteX5" fmla="*/ 651101 w 651101"/>
              <a:gd name="connsiteY5" fmla="*/ 0 h 181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101" h="1810459">
                <a:moveTo>
                  <a:pt x="651101" y="0"/>
                </a:moveTo>
                <a:lnTo>
                  <a:pt x="651100" y="1810459"/>
                </a:lnTo>
                <a:lnTo>
                  <a:pt x="452615" y="1810459"/>
                </a:lnTo>
                <a:lnTo>
                  <a:pt x="0" y="905230"/>
                </a:lnTo>
                <a:lnTo>
                  <a:pt x="452616" y="0"/>
                </a:lnTo>
                <a:lnTo>
                  <a:pt x="651101" y="0"/>
                </a:lnTo>
                <a:close/>
              </a:path>
            </a:pathLst>
          </a:custGeom>
          <a:solidFill>
            <a:srgbClr val="6E9E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34" name="TextBox 33"/>
          <p:cNvSpPr txBox="1"/>
          <p:nvPr/>
        </p:nvSpPr>
        <p:spPr>
          <a:xfrm>
            <a:off x="4467490" y="194207"/>
            <a:ext cx="4352361" cy="1015663"/>
          </a:xfrm>
          <a:prstGeom prst="rect">
            <a:avLst/>
          </a:prstGeom>
          <a:noFill/>
        </p:spPr>
        <p:txBody>
          <a:bodyPr wrap="square" rtlCol="0">
            <a:spAutoFit/>
          </a:bodyPr>
          <a:lstStyle/>
          <a:p>
            <a:pPr algn="ctr"/>
            <a:r>
              <a:rPr lang="fr-FR" sz="1200" b="1" cap="small" dirty="0">
                <a:latin typeface="Gadugi" panose="020B0502040204020203" pitchFamily="34" charset="0"/>
                <a:cs typeface="Raavi" panose="020B0502040204020203" pitchFamily="34" charset="0"/>
              </a:rPr>
              <a:t>République Algérienne Démocratique et Populaire </a:t>
            </a:r>
          </a:p>
          <a:p>
            <a:pPr algn="ctr"/>
            <a:r>
              <a:rPr lang="fr-FR" sz="1200" b="1" cap="small" dirty="0">
                <a:latin typeface="Gadugi" panose="020B0502040204020203" pitchFamily="34" charset="0"/>
                <a:cs typeface="Raavi" panose="020B0502040204020203" pitchFamily="34" charset="0"/>
              </a:rPr>
              <a:t>Ministère de l'enseignement </a:t>
            </a:r>
            <a:r>
              <a:rPr lang="fr-FR" sz="1200" b="1" cap="small" dirty="0" smtClean="0">
                <a:latin typeface="Gadugi" panose="020B0502040204020203" pitchFamily="34" charset="0"/>
                <a:cs typeface="Raavi" panose="020B0502040204020203" pitchFamily="34" charset="0"/>
              </a:rPr>
              <a:t>supérieur et </a:t>
            </a:r>
            <a:r>
              <a:rPr lang="fr-FR" sz="1200" b="1" cap="small" dirty="0">
                <a:latin typeface="Gadugi" panose="020B0502040204020203" pitchFamily="34" charset="0"/>
                <a:cs typeface="Raavi" panose="020B0502040204020203" pitchFamily="34" charset="0"/>
              </a:rPr>
              <a:t>de la recherche scientifique</a:t>
            </a:r>
          </a:p>
          <a:p>
            <a:pPr algn="ctr"/>
            <a:r>
              <a:rPr lang="fr-FR" sz="1200" b="1" cap="small" dirty="0">
                <a:latin typeface="Gadugi" panose="020B0502040204020203" pitchFamily="34" charset="0"/>
                <a:cs typeface="Raavi" panose="020B0502040204020203" pitchFamily="34" charset="0"/>
              </a:rPr>
              <a:t>Université </a:t>
            </a:r>
            <a:r>
              <a:rPr lang="fr-FR" sz="1200" b="1" cap="small" dirty="0" err="1">
                <a:latin typeface="Gadugi" panose="020B0502040204020203" pitchFamily="34" charset="0"/>
                <a:cs typeface="Raavi" panose="020B0502040204020203" pitchFamily="34" charset="0"/>
              </a:rPr>
              <a:t>Badji</a:t>
            </a:r>
            <a:r>
              <a:rPr lang="fr-FR" sz="1200" b="1" cap="small" dirty="0">
                <a:latin typeface="Gadugi" panose="020B0502040204020203" pitchFamily="34" charset="0"/>
                <a:cs typeface="Raavi" panose="020B0502040204020203" pitchFamily="34" charset="0"/>
              </a:rPr>
              <a:t> </a:t>
            </a:r>
            <a:r>
              <a:rPr lang="fr-FR" sz="1200" b="1" cap="small" dirty="0" smtClean="0">
                <a:latin typeface="Gadugi" panose="020B0502040204020203" pitchFamily="34" charset="0"/>
                <a:cs typeface="Raavi" panose="020B0502040204020203" pitchFamily="34" charset="0"/>
              </a:rPr>
              <a:t>Mokhtar-Annaba</a:t>
            </a:r>
          </a:p>
          <a:p>
            <a:pPr algn="ctr"/>
            <a:r>
              <a:rPr lang="fr-FR" sz="1200" b="1" cap="small" dirty="0">
                <a:ln w="0"/>
                <a:effectLst>
                  <a:outerShdw blurRad="38100" dist="19050" dir="2700000" algn="tl" rotWithShape="0">
                    <a:schemeClr val="dk1">
                      <a:alpha val="40000"/>
                    </a:schemeClr>
                  </a:outerShdw>
                </a:effectLst>
                <a:latin typeface="Gadugi" panose="020B0502040204020203" pitchFamily="34" charset="0"/>
                <a:cs typeface="Raavi" panose="020B0502040204020203" pitchFamily="34" charset="0"/>
              </a:rPr>
              <a:t>Faculté Des Sciences </a:t>
            </a:r>
            <a:r>
              <a:rPr lang="fr-FR" sz="1200" b="1" cap="small" dirty="0" smtClean="0">
                <a:ln w="0"/>
                <a:effectLst>
                  <a:outerShdw blurRad="38100" dist="19050" dir="2700000" algn="tl" rotWithShape="0">
                    <a:schemeClr val="dk1">
                      <a:alpha val="40000"/>
                    </a:schemeClr>
                  </a:outerShdw>
                </a:effectLst>
                <a:latin typeface="Gadugi" panose="020B0502040204020203" pitchFamily="34" charset="0"/>
                <a:cs typeface="Raavi" panose="020B0502040204020203" pitchFamily="34" charset="0"/>
              </a:rPr>
              <a:t>Département de Biologie </a:t>
            </a:r>
            <a:endParaRPr lang="en-US" sz="1200" b="1" cap="small" dirty="0">
              <a:ln w="0"/>
              <a:effectLst>
                <a:outerShdw blurRad="38100" dist="19050" dir="2700000" algn="tl" rotWithShape="0">
                  <a:schemeClr val="dk1">
                    <a:alpha val="40000"/>
                  </a:schemeClr>
                </a:outerShdw>
              </a:effectLst>
              <a:latin typeface="Gadugi" panose="020B0502040204020203" pitchFamily="34" charset="0"/>
              <a:cs typeface="Raavi" panose="020B0502040204020203" pitchFamily="34" charset="0"/>
            </a:endParaRPr>
          </a:p>
        </p:txBody>
      </p:sp>
      <p:sp>
        <p:nvSpPr>
          <p:cNvPr id="35" name="TextBox 34"/>
          <p:cNvSpPr txBox="1"/>
          <p:nvPr/>
        </p:nvSpPr>
        <p:spPr>
          <a:xfrm>
            <a:off x="3251403" y="1371369"/>
            <a:ext cx="6530260" cy="923330"/>
          </a:xfrm>
          <a:prstGeom prst="rect">
            <a:avLst/>
          </a:prstGeom>
          <a:noFill/>
        </p:spPr>
        <p:txBody>
          <a:bodyPr wrap="square" rtlCol="0">
            <a:spAutoFit/>
          </a:bodyPr>
          <a:lstStyle/>
          <a:p>
            <a:pPr algn="ctr"/>
            <a:r>
              <a:rPr lang="fr-FR" b="1" cap="small" dirty="0" smtClean="0">
                <a:latin typeface="Gadugi" panose="020B0502040204020203" pitchFamily="34" charset="0"/>
              </a:rPr>
              <a:t>Laboratoire de biologie végétale et environnement </a:t>
            </a:r>
          </a:p>
          <a:p>
            <a:pPr algn="ctr"/>
            <a:endParaRPr lang="fr-FR" b="1" dirty="0" smtClean="0">
              <a:latin typeface="Gadugi" panose="020B0502040204020203" pitchFamily="34" charset="0"/>
            </a:endParaRPr>
          </a:p>
          <a:p>
            <a:pPr algn="ctr"/>
            <a:r>
              <a:rPr lang="fr-FR" sz="1600" b="1" dirty="0" smtClean="0">
                <a:latin typeface="Gadugi" panose="020B0502040204020203" pitchFamily="34" charset="0"/>
              </a:rPr>
              <a:t>Organise </a:t>
            </a:r>
            <a:endParaRPr lang="fr-FR" sz="1600" b="1" dirty="0">
              <a:latin typeface="Gadugi" panose="020B0502040204020203" pitchFamily="34" charset="0"/>
            </a:endParaRPr>
          </a:p>
        </p:txBody>
      </p:sp>
      <p:sp>
        <p:nvSpPr>
          <p:cNvPr id="36" name="TextBox 35"/>
          <p:cNvSpPr txBox="1"/>
          <p:nvPr/>
        </p:nvSpPr>
        <p:spPr>
          <a:xfrm>
            <a:off x="3036083" y="2304585"/>
            <a:ext cx="6876956" cy="1200329"/>
          </a:xfrm>
          <a:prstGeom prst="rect">
            <a:avLst/>
          </a:prstGeom>
          <a:noFill/>
        </p:spPr>
        <p:txBody>
          <a:bodyPr wrap="square" rtlCol="0">
            <a:spAutoFit/>
          </a:bodyPr>
          <a:lstStyle/>
          <a:p>
            <a:pPr algn="ctr"/>
            <a:r>
              <a:rPr lang="fr-FR" sz="2400" b="1" cap="small" dirty="0" smtClean="0">
                <a:ln w="0"/>
                <a:solidFill>
                  <a:srgbClr val="1088A1"/>
                </a:solidFill>
                <a:latin typeface="Gadugi" panose="020B0502040204020203" pitchFamily="34" charset="0"/>
                <a:cs typeface="Times New Roman" panose="02020603050405020304" pitchFamily="18" charset="0"/>
              </a:rPr>
              <a:t> le premier séminaire national en phytobiologie et valorisation des </a:t>
            </a:r>
            <a:r>
              <a:rPr lang="fr-FR" sz="2400" b="1" cap="small" dirty="0" err="1" smtClean="0">
                <a:ln w="0"/>
                <a:solidFill>
                  <a:srgbClr val="1088A1"/>
                </a:solidFill>
                <a:latin typeface="Gadugi" panose="020B0502040204020203" pitchFamily="34" charset="0"/>
                <a:cs typeface="Times New Roman" panose="02020603050405020304" pitchFamily="18" charset="0"/>
              </a:rPr>
              <a:t>bioressources</a:t>
            </a:r>
            <a:r>
              <a:rPr lang="fr-FR" sz="2400" b="1" cap="small" dirty="0" smtClean="0">
                <a:ln w="0"/>
                <a:solidFill>
                  <a:srgbClr val="1088A1"/>
                </a:solidFill>
                <a:latin typeface="Gadugi" panose="020B0502040204020203" pitchFamily="34" charset="0"/>
                <a:cs typeface="Times New Roman" panose="02020603050405020304" pitchFamily="18" charset="0"/>
              </a:rPr>
              <a:t> </a:t>
            </a:r>
          </a:p>
          <a:p>
            <a:pPr algn="ctr"/>
            <a:r>
              <a:rPr lang="fr-FR" sz="2400" b="1" cap="small" dirty="0" smtClean="0">
                <a:ln w="0"/>
                <a:solidFill>
                  <a:srgbClr val="1088A1"/>
                </a:solidFill>
                <a:latin typeface="Gadugi" panose="020B0502040204020203" pitchFamily="34" charset="0"/>
                <a:cs typeface="Times New Roman" panose="02020603050405020304" pitchFamily="18" charset="0"/>
              </a:rPr>
              <a:t>(SNPVB)</a:t>
            </a:r>
            <a:endParaRPr lang="fr-FR" sz="2400" b="1" cap="small" dirty="0">
              <a:solidFill>
                <a:srgbClr val="1088A1"/>
              </a:solidFill>
              <a:latin typeface="Gadugi" panose="020B0502040204020203" pitchFamily="34" charset="0"/>
            </a:endParaRPr>
          </a:p>
        </p:txBody>
      </p:sp>
      <p:pic>
        <p:nvPicPr>
          <p:cNvPr id="40" name="Picture 39"/>
          <p:cNvPicPr>
            <a:picLocks noChangeAspect="1"/>
          </p:cNvPicPr>
          <p:nvPr/>
        </p:nvPicPr>
        <p:blipFill>
          <a:blip r:embed="rId11"/>
          <a:stretch>
            <a:fillRect/>
          </a:stretch>
        </p:blipFill>
        <p:spPr>
          <a:xfrm>
            <a:off x="8671457" y="217887"/>
            <a:ext cx="959071" cy="845776"/>
          </a:xfrm>
          <a:prstGeom prst="rect">
            <a:avLst/>
          </a:prstGeom>
        </p:spPr>
      </p:pic>
      <p:pic>
        <p:nvPicPr>
          <p:cNvPr id="41" name="object 11"/>
          <p:cNvPicPr/>
          <p:nvPr/>
        </p:nvPicPr>
        <p:blipFill>
          <a:blip r:embed="rId12" cstate="print"/>
          <a:stretch>
            <a:fillRect/>
          </a:stretch>
        </p:blipFill>
        <p:spPr>
          <a:xfrm>
            <a:off x="3708816" y="297225"/>
            <a:ext cx="810871" cy="742853"/>
          </a:xfrm>
          <a:prstGeom prst="rect">
            <a:avLst/>
          </a:prstGeom>
        </p:spPr>
      </p:pic>
      <p:sp>
        <p:nvSpPr>
          <p:cNvPr id="45" name="Rounded Rectangle 44"/>
          <p:cNvSpPr/>
          <p:nvPr/>
        </p:nvSpPr>
        <p:spPr>
          <a:xfrm>
            <a:off x="307975" y="5042288"/>
            <a:ext cx="4052029" cy="614130"/>
          </a:xfrm>
          <a:prstGeom prst="roundRect">
            <a:avLst/>
          </a:prstGeom>
          <a:solidFill>
            <a:srgbClr val="D4E3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n w="0"/>
                <a:solidFill>
                  <a:srgbClr val="1088A1"/>
                </a:solidFill>
                <a:effectLst>
                  <a:outerShdw blurRad="38100" dist="19050" dir="2700000" algn="tl" rotWithShape="0">
                    <a:schemeClr val="dk1">
                      <a:alpha val="40000"/>
                    </a:schemeClr>
                  </a:outerShdw>
                </a:effectLst>
                <a:latin typeface="Algerian" panose="04020705040A02060702" pitchFamily="82" charset="0"/>
                <a:cs typeface="Times New Roman" panose="02020603050405020304" pitchFamily="18" charset="0"/>
              </a:rPr>
              <a:t>LE 26 ET 27 novembre 2025 </a:t>
            </a:r>
          </a:p>
          <a:p>
            <a:pPr algn="ctr"/>
            <a:r>
              <a:rPr lang="fr-FR" dirty="0">
                <a:ln w="0"/>
                <a:solidFill>
                  <a:srgbClr val="1088A1"/>
                </a:solidFill>
                <a:effectLst>
                  <a:outerShdw blurRad="38100" dist="19050" dir="2700000" algn="tl" rotWithShape="0">
                    <a:schemeClr val="dk1">
                      <a:alpha val="40000"/>
                    </a:schemeClr>
                  </a:outerShdw>
                </a:effectLst>
                <a:latin typeface="Algerian" panose="04020705040A02060702" pitchFamily="82" charset="0"/>
                <a:cs typeface="Times New Roman" panose="02020603050405020304" pitchFamily="18" charset="0"/>
              </a:rPr>
              <a:t>(ONLINE)</a:t>
            </a:r>
          </a:p>
        </p:txBody>
      </p:sp>
      <p:sp>
        <p:nvSpPr>
          <p:cNvPr id="58" name="Freeform 57"/>
          <p:cNvSpPr/>
          <p:nvPr/>
        </p:nvSpPr>
        <p:spPr>
          <a:xfrm rot="5400000">
            <a:off x="8570681" y="3939342"/>
            <a:ext cx="1962278" cy="740666"/>
          </a:xfrm>
          <a:custGeom>
            <a:avLst/>
            <a:gdLst>
              <a:gd name="connsiteX0" fmla="*/ 0 w 1962278"/>
              <a:gd name="connsiteY0" fmla="*/ 0 h 740666"/>
              <a:gd name="connsiteX1" fmla="*/ 1962278 w 1962278"/>
              <a:gd name="connsiteY1" fmla="*/ 0 h 740666"/>
              <a:gd name="connsiteX2" fmla="*/ 1591945 w 1962278"/>
              <a:gd name="connsiteY2" fmla="*/ 740666 h 740666"/>
              <a:gd name="connsiteX3" fmla="*/ 370333 w 1962278"/>
              <a:gd name="connsiteY3" fmla="*/ 740666 h 740666"/>
              <a:gd name="connsiteX4" fmla="*/ 0 w 1962278"/>
              <a:gd name="connsiteY4" fmla="*/ 0 h 74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278" h="740666">
                <a:moveTo>
                  <a:pt x="0" y="0"/>
                </a:moveTo>
                <a:lnTo>
                  <a:pt x="1962278" y="0"/>
                </a:lnTo>
                <a:lnTo>
                  <a:pt x="1591945" y="740666"/>
                </a:lnTo>
                <a:lnTo>
                  <a:pt x="370333" y="740666"/>
                </a:lnTo>
                <a:lnTo>
                  <a:pt x="0" y="0"/>
                </a:lnTo>
                <a:close/>
              </a:path>
            </a:pathLst>
          </a:custGeom>
          <a:solidFill>
            <a:srgbClr val="6E9E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49" name="TextBox 48"/>
          <p:cNvSpPr txBox="1"/>
          <p:nvPr/>
        </p:nvSpPr>
        <p:spPr>
          <a:xfrm>
            <a:off x="10208" y="6022757"/>
            <a:ext cx="5488739" cy="830997"/>
          </a:xfrm>
          <a:prstGeom prst="rect">
            <a:avLst/>
          </a:prstGeom>
          <a:noFill/>
        </p:spPr>
        <p:txBody>
          <a:bodyPr wrap="square" rtlCol="0">
            <a:spAutoFit/>
          </a:bodyPr>
          <a:lstStyle/>
          <a:p>
            <a:r>
              <a:rPr lang="fr-FR" sz="1200" b="1" dirty="0" smtClean="0">
                <a:solidFill>
                  <a:schemeClr val="bg1"/>
                </a:solidFill>
                <a:latin typeface="Gadugi" panose="020B0502040204020203" pitchFamily="34" charset="0"/>
              </a:rPr>
              <a:t>Contact :  </a:t>
            </a:r>
            <a:r>
              <a:rPr lang="fr-FR" sz="1200" b="1" dirty="0" smtClean="0">
                <a:solidFill>
                  <a:schemeClr val="bg1"/>
                </a:solidFill>
                <a:latin typeface="Gadugi" panose="020B0502040204020203" pitchFamily="34" charset="0"/>
                <a:hlinkClick r:id="rId13"/>
              </a:rPr>
              <a:t>snphytobiologie.2025@gmail.com</a:t>
            </a:r>
            <a:endParaRPr lang="fr-FR" sz="1200" b="1" dirty="0" smtClean="0">
              <a:solidFill>
                <a:schemeClr val="bg1"/>
              </a:solidFill>
              <a:latin typeface="Gadugi" panose="020B0502040204020203" pitchFamily="34" charset="0"/>
            </a:endParaRPr>
          </a:p>
          <a:p>
            <a:endParaRPr lang="fr-FR" sz="1200" b="1" dirty="0" smtClean="0">
              <a:solidFill>
                <a:schemeClr val="bg1"/>
              </a:solidFill>
              <a:latin typeface="Gadugi" panose="020B0502040204020203" pitchFamily="34" charset="0"/>
            </a:endParaRPr>
          </a:p>
          <a:p>
            <a:r>
              <a:rPr lang="fr-FR" sz="1200" b="1" dirty="0" smtClean="0">
                <a:solidFill>
                  <a:schemeClr val="bg1"/>
                </a:solidFill>
                <a:latin typeface="Gadugi" panose="020B0502040204020203" pitchFamily="34" charset="0"/>
              </a:rPr>
              <a:t>Lien </a:t>
            </a:r>
            <a:r>
              <a:rPr lang="fr-FR" sz="1200" b="1" dirty="0">
                <a:solidFill>
                  <a:schemeClr val="bg1"/>
                </a:solidFill>
                <a:latin typeface="Gadugi" panose="020B0502040204020203" pitchFamily="34" charset="0"/>
              </a:rPr>
              <a:t>d’inscription </a:t>
            </a:r>
            <a:r>
              <a:rPr lang="fr-FR" sz="1200" b="1" dirty="0" smtClean="0">
                <a:solidFill>
                  <a:schemeClr val="bg1"/>
                </a:solidFill>
                <a:latin typeface="Gadugi" panose="020B0502040204020203" pitchFamily="34" charset="0"/>
              </a:rPr>
              <a:t>: </a:t>
            </a:r>
            <a:r>
              <a:rPr lang="fr-FR" sz="1200" b="1" dirty="0">
                <a:solidFill>
                  <a:schemeClr val="bg1"/>
                </a:solidFill>
                <a:latin typeface="Gadugi" panose="020B0502040204020203" pitchFamily="34" charset="0"/>
                <a:hlinkClick r:id="rId14"/>
              </a:rPr>
              <a:t>https://</a:t>
            </a:r>
            <a:r>
              <a:rPr lang="fr-FR" sz="1200" b="1" dirty="0" smtClean="0">
                <a:solidFill>
                  <a:schemeClr val="bg1"/>
                </a:solidFill>
                <a:latin typeface="Gadugi" panose="020B0502040204020203" pitchFamily="34" charset="0"/>
                <a:hlinkClick r:id="rId14"/>
              </a:rPr>
              <a:t>forms.gle/VesyQZuB3vGGvqmL8</a:t>
            </a:r>
            <a:r>
              <a:rPr lang="fr-FR" sz="1200" b="1" dirty="0" smtClean="0">
                <a:solidFill>
                  <a:schemeClr val="bg1"/>
                </a:solidFill>
                <a:latin typeface="Gadugi" panose="020B0502040204020203" pitchFamily="34" charset="0"/>
              </a:rPr>
              <a:t> </a:t>
            </a:r>
            <a:endParaRPr lang="fr-FR" sz="1200" b="1" dirty="0" smtClean="0">
              <a:solidFill>
                <a:schemeClr val="bg1"/>
              </a:solidFill>
              <a:latin typeface="Gadugi" panose="020B0502040204020203" pitchFamily="34" charset="0"/>
            </a:endParaRPr>
          </a:p>
          <a:p>
            <a:r>
              <a:rPr lang="fr-FR" sz="1200" b="1" dirty="0" smtClean="0">
                <a:solidFill>
                  <a:schemeClr val="bg1"/>
                </a:solidFill>
                <a:latin typeface="Gadugi" panose="020B0502040204020203" pitchFamily="34" charset="0"/>
              </a:rPr>
              <a:t> </a:t>
            </a:r>
            <a:endParaRPr lang="fr-FR" sz="1200" b="1" dirty="0">
              <a:solidFill>
                <a:schemeClr val="bg1"/>
              </a:solidFill>
              <a:latin typeface="Gadugi" panose="020B0502040204020203" pitchFamily="34" charset="0"/>
            </a:endParaRPr>
          </a:p>
        </p:txBody>
      </p:sp>
      <p:sp>
        <p:nvSpPr>
          <p:cNvPr id="54" name="Freeform 53"/>
          <p:cNvSpPr/>
          <p:nvPr/>
        </p:nvSpPr>
        <p:spPr>
          <a:xfrm>
            <a:off x="-96522" y="-1195"/>
            <a:ext cx="412242" cy="1633854"/>
          </a:xfrm>
          <a:custGeom>
            <a:avLst/>
            <a:gdLst>
              <a:gd name="connsiteX0" fmla="*/ 0 w 412242"/>
              <a:gd name="connsiteY0" fmla="*/ 0 h 1633854"/>
              <a:gd name="connsiteX1" fmla="*/ 412242 w 412242"/>
              <a:gd name="connsiteY1" fmla="*/ 206121 h 1633854"/>
              <a:gd name="connsiteX2" fmla="*/ 412242 w 412242"/>
              <a:gd name="connsiteY2" fmla="*/ 1427733 h 1633854"/>
              <a:gd name="connsiteX3" fmla="*/ 0 w 412242"/>
              <a:gd name="connsiteY3" fmla="*/ 1633854 h 1633854"/>
              <a:gd name="connsiteX4" fmla="*/ 0 w 412242"/>
              <a:gd name="connsiteY4" fmla="*/ 0 h 1633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42" h="1633854">
                <a:moveTo>
                  <a:pt x="0" y="0"/>
                </a:moveTo>
                <a:lnTo>
                  <a:pt x="412242" y="206121"/>
                </a:lnTo>
                <a:lnTo>
                  <a:pt x="412242" y="1427733"/>
                </a:lnTo>
                <a:lnTo>
                  <a:pt x="0" y="1633854"/>
                </a:lnTo>
                <a:lnTo>
                  <a:pt x="0" y="0"/>
                </a:lnTo>
                <a:close/>
              </a:path>
            </a:pathLst>
          </a:custGeom>
          <a:solidFill>
            <a:srgbClr val="6E9E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Picture 73"/>
          <p:cNvPicPr>
            <a:picLocks noChangeAspect="1"/>
          </p:cNvPicPr>
          <p:nvPr/>
        </p:nvPicPr>
        <p:blipFill>
          <a:blip r:embed="rId15" cstate="print"/>
          <a:stretch>
            <a:fillRect/>
          </a:stretch>
        </p:blipFill>
        <p:spPr>
          <a:xfrm>
            <a:off x="6148862" y="3377856"/>
            <a:ext cx="2076852" cy="2076852"/>
          </a:xfrm>
          <a:prstGeom prst="rect">
            <a:avLst/>
          </a:prstGeom>
        </p:spPr>
      </p:pic>
      <p:sp>
        <p:nvSpPr>
          <p:cNvPr id="75" name="TextBox 74"/>
          <p:cNvSpPr txBox="1"/>
          <p:nvPr/>
        </p:nvSpPr>
        <p:spPr>
          <a:xfrm>
            <a:off x="5396235" y="5578488"/>
            <a:ext cx="4273228" cy="861774"/>
          </a:xfrm>
          <a:prstGeom prst="rect">
            <a:avLst/>
          </a:prstGeom>
          <a:noFill/>
        </p:spPr>
        <p:txBody>
          <a:bodyPr wrap="square" rtlCol="0">
            <a:spAutoFit/>
          </a:bodyPr>
          <a:lstStyle/>
          <a:p>
            <a:r>
              <a:rPr lang="fr-FR" sz="1400" b="1" cap="small" dirty="0" smtClean="0">
                <a:solidFill>
                  <a:schemeClr val="bg1"/>
                </a:solidFill>
              </a:rPr>
              <a:t>Dates Importantes:</a:t>
            </a:r>
          </a:p>
          <a:p>
            <a:pPr marL="285750" indent="-285750">
              <a:buFont typeface="Wingdings" panose="05000000000000000000" pitchFamily="2" charset="2"/>
              <a:buChar char="§"/>
            </a:pPr>
            <a:r>
              <a:rPr lang="fr-FR" sz="1200" dirty="0" smtClean="0">
                <a:solidFill>
                  <a:schemeClr val="bg1"/>
                </a:solidFill>
                <a:latin typeface="Gadugi" panose="020B0502040204020203" pitchFamily="34" charset="0"/>
              </a:rPr>
              <a:t>10 </a:t>
            </a:r>
            <a:r>
              <a:rPr lang="fr-FR" sz="1200" dirty="0">
                <a:solidFill>
                  <a:schemeClr val="bg1"/>
                </a:solidFill>
                <a:latin typeface="Gadugi" panose="020B0502040204020203" pitchFamily="34" charset="0"/>
              </a:rPr>
              <a:t>novembre 2025 date limite </a:t>
            </a:r>
            <a:r>
              <a:rPr lang="fr-FR" sz="1200" dirty="0" smtClean="0">
                <a:solidFill>
                  <a:schemeClr val="bg1"/>
                </a:solidFill>
                <a:latin typeface="Gadugi" panose="020B0502040204020203" pitchFamily="34" charset="0"/>
              </a:rPr>
              <a:t>de réception </a:t>
            </a:r>
            <a:r>
              <a:rPr lang="fr-FR" sz="1200" dirty="0">
                <a:solidFill>
                  <a:schemeClr val="bg1"/>
                </a:solidFill>
                <a:latin typeface="Gadugi" panose="020B0502040204020203" pitchFamily="34" charset="0"/>
              </a:rPr>
              <a:t>des </a:t>
            </a:r>
            <a:r>
              <a:rPr lang="fr-FR" sz="1200" dirty="0" smtClean="0">
                <a:solidFill>
                  <a:schemeClr val="bg1"/>
                </a:solidFill>
                <a:latin typeface="Gadugi" panose="020B0502040204020203" pitchFamily="34" charset="0"/>
              </a:rPr>
              <a:t>résumés.</a:t>
            </a:r>
            <a:endParaRPr lang="fr-FR" sz="1200" dirty="0">
              <a:solidFill>
                <a:schemeClr val="bg1"/>
              </a:solidFill>
              <a:latin typeface="Gadugi" panose="020B0502040204020203" pitchFamily="34" charset="0"/>
            </a:endParaRPr>
          </a:p>
          <a:p>
            <a:pPr marL="285750" indent="-285750">
              <a:buFont typeface="Wingdings" panose="05000000000000000000" pitchFamily="2" charset="2"/>
              <a:buChar char="§"/>
            </a:pPr>
            <a:r>
              <a:rPr lang="fr-FR" sz="1200" dirty="0">
                <a:solidFill>
                  <a:schemeClr val="bg1"/>
                </a:solidFill>
                <a:latin typeface="Gadugi" panose="020B0502040204020203" pitchFamily="34" charset="0"/>
              </a:rPr>
              <a:t>15 novembre 2025 </a:t>
            </a:r>
            <a:r>
              <a:rPr lang="fr-FR" sz="1200" dirty="0" smtClean="0">
                <a:solidFill>
                  <a:schemeClr val="bg1"/>
                </a:solidFill>
                <a:latin typeface="Gadugi" panose="020B0502040204020203" pitchFamily="34" charset="0"/>
              </a:rPr>
              <a:t>notification d'acceptation </a:t>
            </a:r>
            <a:r>
              <a:rPr lang="fr-FR" sz="1200" dirty="0">
                <a:solidFill>
                  <a:schemeClr val="bg1"/>
                </a:solidFill>
                <a:latin typeface="Gadugi" panose="020B0502040204020203" pitchFamily="34" charset="0"/>
              </a:rPr>
              <a:t>des </a:t>
            </a:r>
            <a:r>
              <a:rPr lang="fr-FR" sz="1200" dirty="0" smtClean="0">
                <a:solidFill>
                  <a:schemeClr val="bg1"/>
                </a:solidFill>
                <a:latin typeface="Gadugi" panose="020B0502040204020203" pitchFamily="34" charset="0"/>
              </a:rPr>
              <a:t>résumés. </a:t>
            </a:r>
            <a:endParaRPr lang="fr-FR" sz="1200" dirty="0">
              <a:solidFill>
                <a:schemeClr val="bg1"/>
              </a:solidFill>
              <a:latin typeface="Gadugi" panose="020B0502040204020203" pitchFamily="34" charset="0"/>
            </a:endParaRPr>
          </a:p>
        </p:txBody>
      </p:sp>
    </p:spTree>
    <p:extLst>
      <p:ext uri="{BB962C8B-B14F-4D97-AF65-F5344CB8AC3E}">
        <p14:creationId xmlns:p14="http://schemas.microsoft.com/office/powerpoint/2010/main" val="8283058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0" y="0"/>
            <a:ext cx="9906000" cy="6858000"/>
          </a:xfrm>
          <a:prstGeom prst="flowChartProcess">
            <a:avLst/>
          </a:prstGeom>
          <a:solidFill>
            <a:srgbClr val="5B9BD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dirty="0"/>
          </a:p>
        </p:txBody>
      </p:sp>
      <p:sp>
        <p:nvSpPr>
          <p:cNvPr id="5" name="Flowchart: Manual Input 11"/>
          <p:cNvSpPr/>
          <p:nvPr/>
        </p:nvSpPr>
        <p:spPr>
          <a:xfrm flipH="1">
            <a:off x="-134112" y="4351365"/>
            <a:ext cx="10174224" cy="2533531"/>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640 h 11640"/>
              <a:gd name="connsiteX1" fmla="*/ 7302 w 10000"/>
              <a:gd name="connsiteY1" fmla="*/ 0 h 11640"/>
              <a:gd name="connsiteX2" fmla="*/ 10000 w 10000"/>
              <a:gd name="connsiteY2" fmla="*/ 1640 h 11640"/>
              <a:gd name="connsiteX3" fmla="*/ 10000 w 10000"/>
              <a:gd name="connsiteY3" fmla="*/ 11640 h 11640"/>
              <a:gd name="connsiteX4" fmla="*/ 0 w 10000"/>
              <a:gd name="connsiteY4" fmla="*/ 11640 h 11640"/>
              <a:gd name="connsiteX5" fmla="*/ 0 w 10000"/>
              <a:gd name="connsiteY5"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64 h 11664"/>
              <a:gd name="connsiteX1" fmla="*/ 2736 w 10000"/>
              <a:gd name="connsiteY1" fmla="*/ 5140 h 11664"/>
              <a:gd name="connsiteX2" fmla="*/ 7302 w 10000"/>
              <a:gd name="connsiteY2" fmla="*/ 24 h 11664"/>
              <a:gd name="connsiteX3" fmla="*/ 10000 w 10000"/>
              <a:gd name="connsiteY3" fmla="*/ 1664 h 11664"/>
              <a:gd name="connsiteX4" fmla="*/ 10000 w 10000"/>
              <a:gd name="connsiteY4" fmla="*/ 11664 h 11664"/>
              <a:gd name="connsiteX5" fmla="*/ 0 w 10000"/>
              <a:gd name="connsiteY5" fmla="*/ 11664 h 11664"/>
              <a:gd name="connsiteX6" fmla="*/ 0 w 10000"/>
              <a:gd name="connsiteY6" fmla="*/ 3664 h 11664"/>
              <a:gd name="connsiteX0" fmla="*/ 0 w 10000"/>
              <a:gd name="connsiteY0" fmla="*/ 3664 h 11664"/>
              <a:gd name="connsiteX1" fmla="*/ 2736 w 10000"/>
              <a:gd name="connsiteY1" fmla="*/ 5140 h 11664"/>
              <a:gd name="connsiteX2" fmla="*/ 7302 w 10000"/>
              <a:gd name="connsiteY2" fmla="*/ 24 h 11664"/>
              <a:gd name="connsiteX3" fmla="*/ 10000 w 10000"/>
              <a:gd name="connsiteY3" fmla="*/ 1664 h 11664"/>
              <a:gd name="connsiteX4" fmla="*/ 10000 w 10000"/>
              <a:gd name="connsiteY4" fmla="*/ 11664 h 11664"/>
              <a:gd name="connsiteX5" fmla="*/ 0 w 10000"/>
              <a:gd name="connsiteY5" fmla="*/ 11664 h 11664"/>
              <a:gd name="connsiteX6" fmla="*/ 0 w 10000"/>
              <a:gd name="connsiteY6" fmla="*/ 3664 h 11664"/>
              <a:gd name="connsiteX0" fmla="*/ 0 w 10000"/>
              <a:gd name="connsiteY0" fmla="*/ 3664 h 11664"/>
              <a:gd name="connsiteX1" fmla="*/ 2736 w 10000"/>
              <a:gd name="connsiteY1" fmla="*/ 5140 h 11664"/>
              <a:gd name="connsiteX2" fmla="*/ 7302 w 10000"/>
              <a:gd name="connsiteY2" fmla="*/ 24 h 11664"/>
              <a:gd name="connsiteX3" fmla="*/ 10000 w 10000"/>
              <a:gd name="connsiteY3" fmla="*/ 1664 h 11664"/>
              <a:gd name="connsiteX4" fmla="*/ 10000 w 10000"/>
              <a:gd name="connsiteY4" fmla="*/ 11664 h 11664"/>
              <a:gd name="connsiteX5" fmla="*/ 0 w 10000"/>
              <a:gd name="connsiteY5" fmla="*/ 11664 h 11664"/>
              <a:gd name="connsiteX6" fmla="*/ 0 w 10000"/>
              <a:gd name="connsiteY6" fmla="*/ 3664 h 11664"/>
              <a:gd name="connsiteX0" fmla="*/ 0 w 10000"/>
              <a:gd name="connsiteY0" fmla="*/ 2994 h 10994"/>
              <a:gd name="connsiteX1" fmla="*/ 2736 w 10000"/>
              <a:gd name="connsiteY1" fmla="*/ 4470 h 10994"/>
              <a:gd name="connsiteX2" fmla="*/ 7320 w 10000"/>
              <a:gd name="connsiteY2" fmla="*/ 45 h 10994"/>
              <a:gd name="connsiteX3" fmla="*/ 10000 w 10000"/>
              <a:gd name="connsiteY3" fmla="*/ 994 h 10994"/>
              <a:gd name="connsiteX4" fmla="*/ 10000 w 10000"/>
              <a:gd name="connsiteY4" fmla="*/ 10994 h 10994"/>
              <a:gd name="connsiteX5" fmla="*/ 0 w 10000"/>
              <a:gd name="connsiteY5" fmla="*/ 10994 h 10994"/>
              <a:gd name="connsiteX6" fmla="*/ 0 w 10000"/>
              <a:gd name="connsiteY6" fmla="*/ 2994 h 10994"/>
              <a:gd name="connsiteX0" fmla="*/ 0 w 10000"/>
              <a:gd name="connsiteY0" fmla="*/ 3252 h 11252"/>
              <a:gd name="connsiteX1" fmla="*/ 2754 w 10000"/>
              <a:gd name="connsiteY1" fmla="*/ 6584 h 11252"/>
              <a:gd name="connsiteX2" fmla="*/ 7320 w 10000"/>
              <a:gd name="connsiteY2" fmla="*/ 303 h 11252"/>
              <a:gd name="connsiteX3" fmla="*/ 10000 w 10000"/>
              <a:gd name="connsiteY3" fmla="*/ 1252 h 11252"/>
              <a:gd name="connsiteX4" fmla="*/ 10000 w 10000"/>
              <a:gd name="connsiteY4" fmla="*/ 11252 h 11252"/>
              <a:gd name="connsiteX5" fmla="*/ 0 w 10000"/>
              <a:gd name="connsiteY5" fmla="*/ 11252 h 11252"/>
              <a:gd name="connsiteX6" fmla="*/ 0 w 10000"/>
              <a:gd name="connsiteY6" fmla="*/ 3252 h 11252"/>
              <a:gd name="connsiteX0" fmla="*/ 0 w 10000"/>
              <a:gd name="connsiteY0" fmla="*/ 3986 h 11252"/>
              <a:gd name="connsiteX1" fmla="*/ 2754 w 10000"/>
              <a:gd name="connsiteY1" fmla="*/ 6584 h 11252"/>
              <a:gd name="connsiteX2" fmla="*/ 7320 w 10000"/>
              <a:gd name="connsiteY2" fmla="*/ 303 h 11252"/>
              <a:gd name="connsiteX3" fmla="*/ 10000 w 10000"/>
              <a:gd name="connsiteY3" fmla="*/ 1252 h 11252"/>
              <a:gd name="connsiteX4" fmla="*/ 10000 w 10000"/>
              <a:gd name="connsiteY4" fmla="*/ 11252 h 11252"/>
              <a:gd name="connsiteX5" fmla="*/ 0 w 10000"/>
              <a:gd name="connsiteY5" fmla="*/ 11252 h 11252"/>
              <a:gd name="connsiteX6" fmla="*/ 0 w 10000"/>
              <a:gd name="connsiteY6" fmla="*/ 3986 h 11252"/>
              <a:gd name="connsiteX0" fmla="*/ 0 w 10000"/>
              <a:gd name="connsiteY0" fmla="*/ 3360 h 10626"/>
              <a:gd name="connsiteX1" fmla="*/ 2754 w 10000"/>
              <a:gd name="connsiteY1" fmla="*/ 5958 h 10626"/>
              <a:gd name="connsiteX2" fmla="*/ 7365 w 10000"/>
              <a:gd name="connsiteY2" fmla="*/ 497 h 10626"/>
              <a:gd name="connsiteX3" fmla="*/ 10000 w 10000"/>
              <a:gd name="connsiteY3" fmla="*/ 626 h 10626"/>
              <a:gd name="connsiteX4" fmla="*/ 10000 w 10000"/>
              <a:gd name="connsiteY4" fmla="*/ 10626 h 10626"/>
              <a:gd name="connsiteX5" fmla="*/ 0 w 10000"/>
              <a:gd name="connsiteY5" fmla="*/ 10626 h 10626"/>
              <a:gd name="connsiteX6" fmla="*/ 0 w 10000"/>
              <a:gd name="connsiteY6" fmla="*/ 3360 h 1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626">
                <a:moveTo>
                  <a:pt x="0" y="3360"/>
                </a:moveTo>
                <a:cubicBezTo>
                  <a:pt x="685" y="1927"/>
                  <a:pt x="1527" y="6435"/>
                  <a:pt x="2754" y="5958"/>
                </a:cubicBezTo>
                <a:cubicBezTo>
                  <a:pt x="3982" y="5481"/>
                  <a:pt x="6157" y="1386"/>
                  <a:pt x="7365" y="497"/>
                </a:cubicBezTo>
                <a:cubicBezTo>
                  <a:pt x="8573" y="-392"/>
                  <a:pt x="9101" y="79"/>
                  <a:pt x="10000" y="626"/>
                </a:cubicBezTo>
                <a:lnTo>
                  <a:pt x="10000" y="10626"/>
                </a:lnTo>
                <a:lnTo>
                  <a:pt x="0" y="10626"/>
                </a:lnTo>
                <a:lnTo>
                  <a:pt x="0" y="3360"/>
                </a:lnTo>
                <a:close/>
              </a:path>
            </a:pathLst>
          </a:custGeom>
          <a:gradFill>
            <a:gsLst>
              <a:gs pos="0">
                <a:srgbClr val="D5E2EA"/>
              </a:gs>
              <a:gs pos="80000">
                <a:schemeClr val="bg1">
                  <a:lumMod val="95000"/>
                </a:schemeClr>
              </a:gs>
            </a:gsLst>
            <a:lin ang="10800000" scaled="1"/>
          </a:gradFill>
          <a:ln w="23812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1" name="Freeform 20"/>
          <p:cNvSpPr/>
          <p:nvPr/>
        </p:nvSpPr>
        <p:spPr>
          <a:xfrm>
            <a:off x="8152694" y="5113904"/>
            <a:ext cx="1753306" cy="1622021"/>
          </a:xfrm>
          <a:custGeom>
            <a:avLst/>
            <a:gdLst>
              <a:gd name="connsiteX0" fmla="*/ 0 w 2123259"/>
              <a:gd name="connsiteY0" fmla="*/ 1587500 h 2165129"/>
              <a:gd name="connsiteX1" fmla="*/ 1352550 w 2123259"/>
              <a:gd name="connsiteY1" fmla="*/ 0 h 2165129"/>
              <a:gd name="connsiteX2" fmla="*/ 2108774 w 2123259"/>
              <a:gd name="connsiteY2" fmla="*/ 271120 h 2165129"/>
              <a:gd name="connsiteX3" fmla="*/ 2123259 w 2123259"/>
              <a:gd name="connsiteY3" fmla="*/ 283833 h 2165129"/>
              <a:gd name="connsiteX4" fmla="*/ 2123259 w 2123259"/>
              <a:gd name="connsiteY4" fmla="*/ 283834 h 2165129"/>
              <a:gd name="connsiteX5" fmla="*/ 2123259 w 2123259"/>
              <a:gd name="connsiteY5" fmla="*/ 2165129 h 2165129"/>
              <a:gd name="connsiteX6" fmla="*/ 93722 w 2123259"/>
              <a:gd name="connsiteY6" fmla="*/ 2165129 h 2165129"/>
              <a:gd name="connsiteX7" fmla="*/ 60808 w 2123259"/>
              <a:gd name="connsiteY7" fmla="*/ 2059574 h 2165129"/>
              <a:gd name="connsiteX8" fmla="*/ 0 w 2123259"/>
              <a:gd name="connsiteY8" fmla="*/ 1587500 h 216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3259" h="2165129">
                <a:moveTo>
                  <a:pt x="0" y="1587500"/>
                </a:moveTo>
                <a:cubicBezTo>
                  <a:pt x="0" y="710748"/>
                  <a:pt x="605557" y="0"/>
                  <a:pt x="1352550" y="0"/>
                </a:cubicBezTo>
                <a:cubicBezTo>
                  <a:pt x="1632672" y="0"/>
                  <a:pt x="1892905" y="99949"/>
                  <a:pt x="2108774" y="271120"/>
                </a:cubicBezTo>
                <a:lnTo>
                  <a:pt x="2123259" y="283833"/>
                </a:lnTo>
                <a:lnTo>
                  <a:pt x="2123259" y="283834"/>
                </a:lnTo>
                <a:lnTo>
                  <a:pt x="2123259" y="2165129"/>
                </a:lnTo>
                <a:lnTo>
                  <a:pt x="93722" y="2165129"/>
                </a:lnTo>
                <a:lnTo>
                  <a:pt x="60808" y="2059574"/>
                </a:lnTo>
                <a:cubicBezTo>
                  <a:pt x="21289" y="1910446"/>
                  <a:pt x="0" y="1751891"/>
                  <a:pt x="0" y="1587500"/>
                </a:cubicBezTo>
                <a:close/>
              </a:path>
            </a:pathLst>
          </a:cu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Freeform 30"/>
          <p:cNvSpPr/>
          <p:nvPr/>
        </p:nvSpPr>
        <p:spPr>
          <a:xfrm rot="5400000">
            <a:off x="8750399" y="3057872"/>
            <a:ext cx="1962278" cy="361951"/>
          </a:xfrm>
          <a:custGeom>
            <a:avLst/>
            <a:gdLst>
              <a:gd name="connsiteX0" fmla="*/ 0 w 1962278"/>
              <a:gd name="connsiteY0" fmla="*/ 0 h 740666"/>
              <a:gd name="connsiteX1" fmla="*/ 1962278 w 1962278"/>
              <a:gd name="connsiteY1" fmla="*/ 0 h 740666"/>
              <a:gd name="connsiteX2" fmla="*/ 1591945 w 1962278"/>
              <a:gd name="connsiteY2" fmla="*/ 740666 h 740666"/>
              <a:gd name="connsiteX3" fmla="*/ 370333 w 1962278"/>
              <a:gd name="connsiteY3" fmla="*/ 740666 h 740666"/>
              <a:gd name="connsiteX4" fmla="*/ 0 w 1962278"/>
              <a:gd name="connsiteY4" fmla="*/ 0 h 74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278" h="740666">
                <a:moveTo>
                  <a:pt x="0" y="0"/>
                </a:moveTo>
                <a:lnTo>
                  <a:pt x="1962278" y="0"/>
                </a:lnTo>
                <a:lnTo>
                  <a:pt x="1591945" y="740666"/>
                </a:lnTo>
                <a:lnTo>
                  <a:pt x="370333" y="740666"/>
                </a:lnTo>
                <a:lnTo>
                  <a:pt x="0" y="0"/>
                </a:lnTo>
                <a:close/>
              </a:path>
            </a:pathLst>
          </a:custGeom>
          <a:solidFill>
            <a:srgbClr val="6E9E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37" name="Rounded Rectangle 36"/>
          <p:cNvSpPr/>
          <p:nvPr/>
        </p:nvSpPr>
        <p:spPr>
          <a:xfrm>
            <a:off x="1169182" y="955772"/>
            <a:ext cx="1886460" cy="60116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cap="small" dirty="0" smtClean="0">
                <a:solidFill>
                  <a:schemeClr val="bg1"/>
                </a:solidFill>
                <a:latin typeface="Gadugi" panose="020B0502040204020203" pitchFamily="34" charset="0"/>
              </a:rPr>
              <a:t>Thématiques </a:t>
            </a:r>
            <a:endParaRPr lang="fr-FR" b="1" cap="small" dirty="0">
              <a:solidFill>
                <a:schemeClr val="bg1"/>
              </a:solidFill>
              <a:latin typeface="Gadugi" panose="020B0502040204020203" pitchFamily="34" charset="0"/>
            </a:endParaRPr>
          </a:p>
        </p:txBody>
      </p:sp>
      <p:sp>
        <p:nvSpPr>
          <p:cNvPr id="30" name="TextBox 29"/>
          <p:cNvSpPr txBox="1"/>
          <p:nvPr/>
        </p:nvSpPr>
        <p:spPr>
          <a:xfrm>
            <a:off x="4691004" y="626131"/>
            <a:ext cx="4960287" cy="4401205"/>
          </a:xfrm>
          <a:prstGeom prst="rect">
            <a:avLst/>
          </a:prstGeom>
          <a:gradFill>
            <a:gsLst>
              <a:gs pos="0">
                <a:srgbClr val="D5E2EA"/>
              </a:gs>
              <a:gs pos="61000">
                <a:schemeClr val="bg1">
                  <a:lumMod val="95000"/>
                </a:schemeClr>
              </a:gs>
            </a:gsLst>
            <a:lin ang="10800000" scaled="1"/>
          </a:gradFill>
        </p:spPr>
        <p:txBody>
          <a:bodyPr wrap="square" rtlCol="0">
            <a:spAutoFit/>
          </a:bodyPr>
          <a:lstStyle/>
          <a:p>
            <a:pPr lvl="0" algn="just"/>
            <a:r>
              <a:rPr lang="fr-FR" sz="1400" dirty="0">
                <a:latin typeface="Bell MT" panose="02020503060305020303" pitchFamily="18" charset="0"/>
              </a:rPr>
              <a:t>L’Algérie se caractérise par une exceptionnelle richesse floristique, abritant un nombre considérable d’espèces aromatiques, médicinales et endémiques. Cette diversité remarquable résulte de la variété des conditions géographiques et climatiques du pays, qui s’étend des zones méditerranéennes et </a:t>
            </a:r>
            <a:r>
              <a:rPr lang="fr-FR" sz="1400" dirty="0" smtClean="0">
                <a:latin typeface="Bell MT" panose="02020503060305020303" pitchFamily="18" charset="0"/>
              </a:rPr>
              <a:t>montagnardes, jusqu’aux </a:t>
            </a:r>
            <a:r>
              <a:rPr lang="fr-FR" sz="1400" dirty="0">
                <a:latin typeface="Bell MT" panose="02020503060305020303" pitchFamily="18" charset="0"/>
              </a:rPr>
              <a:t>vastes régions sahariennes. Les plantes algériennes trouvent de multiples </a:t>
            </a:r>
            <a:r>
              <a:rPr lang="fr-FR" sz="1400" dirty="0" smtClean="0">
                <a:latin typeface="Bell MT" panose="02020503060305020303" pitchFamily="18" charset="0"/>
              </a:rPr>
              <a:t>applications </a:t>
            </a:r>
            <a:r>
              <a:rPr lang="fr-FR" sz="1400" dirty="0">
                <a:latin typeface="Bell MT" panose="02020503060305020303" pitchFamily="18" charset="0"/>
              </a:rPr>
              <a:t>dans la médecine traditionnelle et moderne, l’industrie pharmaceutique et </a:t>
            </a:r>
            <a:r>
              <a:rPr lang="fr-FR" sz="1400" dirty="0" smtClean="0">
                <a:latin typeface="Bell MT" panose="02020503060305020303" pitchFamily="18" charset="0"/>
              </a:rPr>
              <a:t>cosmétique, </a:t>
            </a:r>
            <a:r>
              <a:rPr lang="fr-FR" sz="1400" dirty="0">
                <a:latin typeface="Bell MT" panose="02020503060305020303" pitchFamily="18" charset="0"/>
              </a:rPr>
              <a:t>ainsi que dans la gastronomie. Par ailleurs, elles jouent un rôle écologique fondamental dans la préservation de la biodiversité et la stabilité des écosystèmes, notamment à travers leurs interactions avec d’autres organismes. Cette richesse floristique représente un potentiel considérable pour la valorisation des </a:t>
            </a:r>
            <a:r>
              <a:rPr lang="fr-FR" sz="1400" dirty="0" err="1">
                <a:latin typeface="Bell MT" panose="02020503060305020303" pitchFamily="18" charset="0"/>
              </a:rPr>
              <a:t>bioressources</a:t>
            </a:r>
            <a:r>
              <a:rPr lang="fr-FR" sz="1400" dirty="0">
                <a:latin typeface="Bell MT" panose="02020503060305020303" pitchFamily="18" charset="0"/>
              </a:rPr>
              <a:t>, en particulier par l’identification d’espèces adaptées à la </a:t>
            </a:r>
            <a:r>
              <a:rPr lang="fr-FR" sz="1400" dirty="0" err="1">
                <a:latin typeface="Bell MT" panose="02020503060305020303" pitchFamily="18" charset="0"/>
              </a:rPr>
              <a:t>phytoremédiation</a:t>
            </a:r>
            <a:r>
              <a:rPr lang="fr-FR" sz="1400" dirty="0">
                <a:latin typeface="Bell MT" panose="02020503060305020303" pitchFamily="18" charset="0"/>
              </a:rPr>
              <a:t> et à la production de biomolécules </a:t>
            </a:r>
            <a:r>
              <a:rPr lang="fr-FR" sz="1400" dirty="0" smtClean="0">
                <a:latin typeface="Bell MT" panose="02020503060305020303" pitchFamily="18" charset="0"/>
              </a:rPr>
              <a:t>d’intérêt. Dans </a:t>
            </a:r>
            <a:r>
              <a:rPr lang="fr-FR" sz="1400" dirty="0">
                <a:latin typeface="Bell MT" panose="02020503060305020303" pitchFamily="18" charset="0"/>
              </a:rPr>
              <a:t>cette perspective, le présent événement scientifique vise à favoriser les échanges entre chercheurs, encourageant ainsi le partage d’expériences et de résultats de recherche autour de la valorisation des </a:t>
            </a:r>
            <a:r>
              <a:rPr lang="fr-FR" sz="1400" dirty="0" err="1">
                <a:latin typeface="Bell MT" panose="02020503060305020303" pitchFamily="18" charset="0"/>
              </a:rPr>
              <a:t>bioressources</a:t>
            </a:r>
            <a:r>
              <a:rPr lang="fr-FR" sz="1400" dirty="0">
                <a:latin typeface="Bell MT" panose="02020503060305020303" pitchFamily="18" charset="0"/>
              </a:rPr>
              <a:t> végétales d’Algérie.</a:t>
            </a:r>
            <a:endParaRPr lang="fr-FR" dirty="0">
              <a:latin typeface="Bell MT" panose="02020503060305020303" pitchFamily="18" charset="0"/>
            </a:endParaRPr>
          </a:p>
        </p:txBody>
      </p:sp>
      <p:sp>
        <p:nvSpPr>
          <p:cNvPr id="38" name="Rounded Rectangle 37"/>
          <p:cNvSpPr/>
          <p:nvPr/>
        </p:nvSpPr>
        <p:spPr>
          <a:xfrm>
            <a:off x="6514" y="1621930"/>
            <a:ext cx="4615901" cy="600364"/>
          </a:xfrm>
          <a:prstGeom prst="roundRect">
            <a:avLst/>
          </a:prstGeom>
          <a:gradFill>
            <a:gsLst>
              <a:gs pos="37000">
                <a:srgbClr val="CFD5BE"/>
              </a:gs>
              <a:gs pos="80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1400" b="1" dirty="0" smtClean="0">
                <a:solidFill>
                  <a:schemeClr val="tx1"/>
                </a:solidFill>
                <a:latin typeface="Gadugi" panose="020B0502040204020203" pitchFamily="34" charset="0"/>
              </a:rPr>
              <a:t>Thème 1</a:t>
            </a:r>
            <a:r>
              <a:rPr lang="fr-FR" sz="1400" dirty="0" smtClean="0">
                <a:solidFill>
                  <a:schemeClr val="tx1"/>
                </a:solidFill>
                <a:latin typeface="Gadugi" panose="020B0502040204020203" pitchFamily="34" charset="0"/>
              </a:rPr>
              <a:t>: Substances Naturelles Végétales </a:t>
            </a:r>
            <a:r>
              <a:rPr lang="fr-FR" sz="1400" dirty="0">
                <a:solidFill>
                  <a:schemeClr val="tx1"/>
                </a:solidFill>
                <a:latin typeface="Gadugi" panose="020B0502040204020203" pitchFamily="34" charset="0"/>
              </a:rPr>
              <a:t>et santé </a:t>
            </a:r>
          </a:p>
        </p:txBody>
      </p:sp>
      <p:sp>
        <p:nvSpPr>
          <p:cNvPr id="57" name="Freeform 56"/>
          <p:cNvSpPr/>
          <p:nvPr/>
        </p:nvSpPr>
        <p:spPr>
          <a:xfrm rot="927969">
            <a:off x="-165904" y="-286646"/>
            <a:ext cx="1698514" cy="1706096"/>
          </a:xfrm>
          <a:custGeom>
            <a:avLst/>
            <a:gdLst>
              <a:gd name="connsiteX0" fmla="*/ 0 w 1698514"/>
              <a:gd name="connsiteY0" fmla="*/ 469959 h 1706096"/>
              <a:gd name="connsiteX1" fmla="*/ 1698514 w 1698514"/>
              <a:gd name="connsiteY1" fmla="*/ 0 h 1706096"/>
              <a:gd name="connsiteX2" fmla="*/ 1698514 w 1698514"/>
              <a:gd name="connsiteY2" fmla="*/ 1277359 h 1706096"/>
              <a:gd name="connsiteX3" fmla="*/ 1269776 w 1698514"/>
              <a:gd name="connsiteY3" fmla="*/ 1706096 h 1706096"/>
              <a:gd name="connsiteX4" fmla="*/ 342025 w 1698514"/>
              <a:gd name="connsiteY4" fmla="*/ 1706096 h 1706096"/>
              <a:gd name="connsiteX5" fmla="*/ 0 w 1698514"/>
              <a:gd name="connsiteY5" fmla="*/ 469959 h 170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514" h="1706096">
                <a:moveTo>
                  <a:pt x="0" y="469959"/>
                </a:moveTo>
                <a:lnTo>
                  <a:pt x="1698514" y="0"/>
                </a:lnTo>
                <a:lnTo>
                  <a:pt x="1698514" y="1277359"/>
                </a:lnTo>
                <a:cubicBezTo>
                  <a:pt x="1698514" y="1514143"/>
                  <a:pt x="1506561" y="1706096"/>
                  <a:pt x="1269776" y="1706096"/>
                </a:cubicBezTo>
                <a:lnTo>
                  <a:pt x="342025" y="1706096"/>
                </a:lnTo>
                <a:lnTo>
                  <a:pt x="0" y="469959"/>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ounded Rectangle 43"/>
          <p:cNvSpPr/>
          <p:nvPr/>
        </p:nvSpPr>
        <p:spPr>
          <a:xfrm>
            <a:off x="-1097" y="2287290"/>
            <a:ext cx="4615901" cy="600364"/>
          </a:xfrm>
          <a:prstGeom prst="roundRect">
            <a:avLst/>
          </a:prstGeom>
          <a:solidFill>
            <a:srgbClr val="6E9E9E">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1400" b="1" dirty="0" smtClean="0">
                <a:solidFill>
                  <a:schemeClr val="tx1"/>
                </a:solidFill>
                <a:latin typeface="Gadugi" panose="020B0502040204020203" pitchFamily="34" charset="0"/>
              </a:rPr>
              <a:t>Thème 2</a:t>
            </a:r>
            <a:r>
              <a:rPr lang="fr-FR" sz="1400" dirty="0" smtClean="0">
                <a:solidFill>
                  <a:schemeClr val="tx1"/>
                </a:solidFill>
                <a:latin typeface="Gadugi" panose="020B0502040204020203" pitchFamily="34" charset="0"/>
              </a:rPr>
              <a:t>: Symbioses végétales interactions et enjeux écologiques </a:t>
            </a:r>
            <a:endParaRPr lang="fr-FR" sz="1400" dirty="0">
              <a:solidFill>
                <a:schemeClr val="tx1"/>
              </a:solidFill>
              <a:latin typeface="Gadugi" panose="020B0502040204020203" pitchFamily="34" charset="0"/>
            </a:endParaRPr>
          </a:p>
        </p:txBody>
      </p:sp>
      <p:sp>
        <p:nvSpPr>
          <p:cNvPr id="45" name="Rounded Rectangle 44"/>
          <p:cNvSpPr/>
          <p:nvPr/>
        </p:nvSpPr>
        <p:spPr>
          <a:xfrm>
            <a:off x="24684" y="2941446"/>
            <a:ext cx="4615901" cy="600364"/>
          </a:xfrm>
          <a:prstGeom prst="roundRect">
            <a:avLst/>
          </a:prstGeom>
          <a:solidFill>
            <a:srgbClr val="D5E2EA">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1400" b="1" dirty="0">
                <a:solidFill>
                  <a:schemeClr val="tx1"/>
                </a:solidFill>
                <a:latin typeface="Gadugi" panose="020B0502040204020203" pitchFamily="34" charset="0"/>
              </a:rPr>
              <a:t>Thème </a:t>
            </a:r>
            <a:r>
              <a:rPr lang="fr-FR" sz="1400" b="1" dirty="0" smtClean="0">
                <a:solidFill>
                  <a:schemeClr val="tx1"/>
                </a:solidFill>
                <a:latin typeface="Gadugi" panose="020B0502040204020203" pitchFamily="34" charset="0"/>
              </a:rPr>
              <a:t>3</a:t>
            </a:r>
            <a:r>
              <a:rPr lang="fr-FR" sz="1400" dirty="0" smtClean="0">
                <a:solidFill>
                  <a:schemeClr val="tx1"/>
                </a:solidFill>
                <a:latin typeface="Gadugi" panose="020B0502040204020203" pitchFamily="34" charset="0"/>
              </a:rPr>
              <a:t>: </a:t>
            </a:r>
            <a:r>
              <a:rPr lang="fr-FR" sz="1400" dirty="0" err="1" smtClean="0">
                <a:solidFill>
                  <a:schemeClr val="tx1"/>
                </a:solidFill>
                <a:latin typeface="Gadugi" panose="020B0502040204020203" pitchFamily="34" charset="0"/>
              </a:rPr>
              <a:t>Phytoremédiation</a:t>
            </a:r>
            <a:r>
              <a:rPr lang="fr-FR" sz="1400" dirty="0" smtClean="0">
                <a:solidFill>
                  <a:schemeClr val="tx1"/>
                </a:solidFill>
                <a:latin typeface="Gadugi" panose="020B0502040204020203" pitchFamily="34" charset="0"/>
              </a:rPr>
              <a:t> et lutte biologique </a:t>
            </a:r>
            <a:endParaRPr lang="fr-FR" sz="1400" dirty="0">
              <a:solidFill>
                <a:schemeClr val="tx1"/>
              </a:solidFill>
              <a:latin typeface="Gadugi" panose="020B0502040204020203" pitchFamily="34" charset="0"/>
            </a:endParaRPr>
          </a:p>
        </p:txBody>
      </p:sp>
      <p:sp>
        <p:nvSpPr>
          <p:cNvPr id="46" name="Rounded Rectangle 45"/>
          <p:cNvSpPr/>
          <p:nvPr/>
        </p:nvSpPr>
        <p:spPr>
          <a:xfrm>
            <a:off x="6514" y="3579114"/>
            <a:ext cx="4615901" cy="600364"/>
          </a:xfrm>
          <a:prstGeom prst="roundRect">
            <a:avLst/>
          </a:prstGeom>
          <a:solidFill>
            <a:srgbClr val="D0C0B0">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1400" b="1" dirty="0">
                <a:solidFill>
                  <a:schemeClr val="tx1"/>
                </a:solidFill>
                <a:latin typeface="Gadugi" panose="020B0502040204020203" pitchFamily="34" charset="0"/>
              </a:rPr>
              <a:t>Thème </a:t>
            </a:r>
            <a:r>
              <a:rPr lang="fr-FR" sz="1400" b="1" dirty="0" smtClean="0">
                <a:solidFill>
                  <a:schemeClr val="tx1"/>
                </a:solidFill>
                <a:latin typeface="Gadugi" panose="020B0502040204020203" pitchFamily="34" charset="0"/>
              </a:rPr>
              <a:t>4</a:t>
            </a:r>
            <a:r>
              <a:rPr lang="fr-FR" sz="1400" dirty="0" smtClean="0">
                <a:solidFill>
                  <a:schemeClr val="tx1"/>
                </a:solidFill>
                <a:latin typeface="Gadugi" panose="020B0502040204020203" pitchFamily="34" charset="0"/>
              </a:rPr>
              <a:t>: Palynologie et ses applications  </a:t>
            </a:r>
            <a:endParaRPr lang="fr-FR" sz="1400" dirty="0">
              <a:solidFill>
                <a:schemeClr val="tx1"/>
              </a:solidFill>
              <a:latin typeface="Gadugi" panose="020B0502040204020203" pitchFamily="34" charset="0"/>
            </a:endParaRPr>
          </a:p>
        </p:txBody>
      </p:sp>
      <p:sp>
        <p:nvSpPr>
          <p:cNvPr id="52" name="Freeform 51"/>
          <p:cNvSpPr/>
          <p:nvPr/>
        </p:nvSpPr>
        <p:spPr>
          <a:xfrm rot="16200000">
            <a:off x="2692091" y="-616983"/>
            <a:ext cx="651101" cy="1810459"/>
          </a:xfrm>
          <a:custGeom>
            <a:avLst/>
            <a:gdLst>
              <a:gd name="connsiteX0" fmla="*/ 651101 w 651101"/>
              <a:gd name="connsiteY0" fmla="*/ 0 h 1810459"/>
              <a:gd name="connsiteX1" fmla="*/ 651100 w 651101"/>
              <a:gd name="connsiteY1" fmla="*/ 1810459 h 1810459"/>
              <a:gd name="connsiteX2" fmla="*/ 452615 w 651101"/>
              <a:gd name="connsiteY2" fmla="*/ 1810459 h 1810459"/>
              <a:gd name="connsiteX3" fmla="*/ 0 w 651101"/>
              <a:gd name="connsiteY3" fmla="*/ 905230 h 1810459"/>
              <a:gd name="connsiteX4" fmla="*/ 452616 w 651101"/>
              <a:gd name="connsiteY4" fmla="*/ 0 h 1810459"/>
              <a:gd name="connsiteX5" fmla="*/ 651101 w 651101"/>
              <a:gd name="connsiteY5" fmla="*/ 0 h 181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101" h="1810459">
                <a:moveTo>
                  <a:pt x="651101" y="0"/>
                </a:moveTo>
                <a:lnTo>
                  <a:pt x="651100" y="1810459"/>
                </a:lnTo>
                <a:lnTo>
                  <a:pt x="452615" y="1810459"/>
                </a:lnTo>
                <a:lnTo>
                  <a:pt x="0" y="905230"/>
                </a:lnTo>
                <a:lnTo>
                  <a:pt x="452616" y="0"/>
                </a:lnTo>
                <a:lnTo>
                  <a:pt x="651101" y="0"/>
                </a:lnTo>
                <a:close/>
              </a:path>
            </a:pathLst>
          </a:custGeom>
          <a:solidFill>
            <a:srgbClr val="6E9E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53" name="TextBox 52"/>
          <p:cNvSpPr txBox="1"/>
          <p:nvPr/>
        </p:nvSpPr>
        <p:spPr>
          <a:xfrm>
            <a:off x="134912" y="4837176"/>
            <a:ext cx="4563257" cy="1754326"/>
          </a:xfrm>
          <a:prstGeom prst="rect">
            <a:avLst/>
          </a:prstGeom>
          <a:noFill/>
        </p:spPr>
        <p:txBody>
          <a:bodyPr wrap="square" rtlCol="0">
            <a:spAutoFit/>
          </a:bodyPr>
          <a:lstStyle/>
          <a:p>
            <a:pPr algn="just"/>
            <a:r>
              <a:rPr lang="fr-FR" sz="1200" b="1" cap="small" dirty="0" smtClean="0">
                <a:solidFill>
                  <a:srgbClr val="0070C0"/>
                </a:solidFill>
                <a:latin typeface="Gadugi" panose="020B0502040204020203" pitchFamily="34" charset="0"/>
              </a:rPr>
              <a:t>Instructions aux auteurs :</a:t>
            </a:r>
          </a:p>
          <a:p>
            <a:pPr algn="just"/>
            <a:endParaRPr lang="fr-FR" sz="1200" b="1" cap="small" dirty="0" smtClean="0">
              <a:latin typeface="Gadugi" panose="020B0502040204020203" pitchFamily="34" charset="0"/>
            </a:endParaRPr>
          </a:p>
          <a:p>
            <a:pPr algn="just"/>
            <a:r>
              <a:rPr lang="fr-FR" sz="1200" dirty="0" smtClean="0">
                <a:solidFill>
                  <a:srgbClr val="0070C0"/>
                </a:solidFill>
                <a:latin typeface="Gadugi" panose="020B0502040204020203" pitchFamily="34" charset="0"/>
              </a:rPr>
              <a:t>Le </a:t>
            </a:r>
            <a:r>
              <a:rPr lang="fr-FR" sz="1200" dirty="0">
                <a:solidFill>
                  <a:srgbClr val="0070C0"/>
                </a:solidFill>
                <a:latin typeface="Gadugi" panose="020B0502040204020203" pitchFamily="34" charset="0"/>
              </a:rPr>
              <a:t>résumé </a:t>
            </a:r>
            <a:r>
              <a:rPr lang="fr-FR" sz="1200" b="1" dirty="0" smtClean="0">
                <a:solidFill>
                  <a:srgbClr val="0070C0"/>
                </a:solidFill>
                <a:latin typeface="Gadugi" panose="020B0502040204020203" pitchFamily="34" charset="0"/>
              </a:rPr>
              <a:t> </a:t>
            </a:r>
            <a:r>
              <a:rPr lang="fr-FR" sz="1200" dirty="0" smtClean="0">
                <a:solidFill>
                  <a:srgbClr val="0070C0"/>
                </a:solidFill>
                <a:latin typeface="Gadugi" panose="020B0502040204020203" pitchFamily="34" charset="0"/>
              </a:rPr>
              <a:t>doit </a:t>
            </a:r>
            <a:r>
              <a:rPr lang="fr-FR" sz="1200" dirty="0">
                <a:solidFill>
                  <a:srgbClr val="0070C0"/>
                </a:solidFill>
                <a:latin typeface="Gadugi" panose="020B0502040204020203" pitchFamily="34" charset="0"/>
              </a:rPr>
              <a:t>être rédigé en français ou en anglais et ne pas dépasser (250 mots) ; Il doit inclure (la méthodologie, les principaux résultats et jusqu’à 5 mots-clés). La mise en forme doit être présentée en Times New Roman 12, simple interligne. Le titre en gras, Police </a:t>
            </a:r>
            <a:r>
              <a:rPr lang="fr-FR" sz="1200" dirty="0" smtClean="0">
                <a:solidFill>
                  <a:srgbClr val="0070C0"/>
                </a:solidFill>
                <a:latin typeface="Gadugi" panose="020B0502040204020203" pitchFamily="34" charset="0"/>
              </a:rPr>
              <a:t>14 centré </a:t>
            </a:r>
            <a:r>
              <a:rPr lang="fr-FR" sz="1200" dirty="0">
                <a:solidFill>
                  <a:srgbClr val="0070C0"/>
                </a:solidFill>
                <a:latin typeface="Gadugi" panose="020B0502040204020203" pitchFamily="34" charset="0"/>
              </a:rPr>
              <a:t>et minuscule. L'auteur principal doit être en gras être souligné, Police 14. L'affiliation des auteurs doit être complète, Police </a:t>
            </a:r>
            <a:r>
              <a:rPr lang="fr-FR" sz="1200" dirty="0" smtClean="0">
                <a:solidFill>
                  <a:srgbClr val="0070C0"/>
                </a:solidFill>
                <a:latin typeface="Gadugi" panose="020B0502040204020203" pitchFamily="34" charset="0"/>
              </a:rPr>
              <a:t>9</a:t>
            </a:r>
            <a:endParaRPr lang="fr-FR" sz="1200" dirty="0">
              <a:solidFill>
                <a:srgbClr val="0070C0"/>
              </a:solidFill>
              <a:latin typeface="Gadugi" panose="020B0502040204020203" pitchFamily="34" charset="0"/>
            </a:endParaRPr>
          </a:p>
        </p:txBody>
      </p:sp>
      <p:sp>
        <p:nvSpPr>
          <p:cNvPr id="66" name="TextBox 65"/>
          <p:cNvSpPr txBox="1"/>
          <p:nvPr/>
        </p:nvSpPr>
        <p:spPr>
          <a:xfrm>
            <a:off x="4691004" y="195403"/>
            <a:ext cx="2285028" cy="369332"/>
          </a:xfrm>
          <a:prstGeom prst="rect">
            <a:avLst/>
          </a:prstGeom>
          <a:noFill/>
        </p:spPr>
        <p:txBody>
          <a:bodyPr wrap="square" rtlCol="0">
            <a:spAutoFit/>
          </a:bodyPr>
          <a:lstStyle/>
          <a:p>
            <a:r>
              <a:rPr lang="fr-FR" b="1" cap="small" dirty="0" smtClean="0">
                <a:solidFill>
                  <a:schemeClr val="bg1"/>
                </a:solidFill>
                <a:latin typeface="Gadugi" panose="020B0502040204020203" pitchFamily="34" charset="0"/>
              </a:rPr>
              <a:t>Préambule</a:t>
            </a:r>
            <a:endParaRPr lang="fr-FR" b="1" cap="small" dirty="0">
              <a:solidFill>
                <a:schemeClr val="bg1"/>
              </a:solidFill>
              <a:latin typeface="Gadugi" panose="020B0502040204020203" pitchFamily="34" charset="0"/>
            </a:endParaRPr>
          </a:p>
        </p:txBody>
      </p:sp>
    </p:spTree>
    <p:extLst>
      <p:ext uri="{BB962C8B-B14F-4D97-AF65-F5344CB8AC3E}">
        <p14:creationId xmlns:p14="http://schemas.microsoft.com/office/powerpoint/2010/main" val="12860507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73562" y="-161685"/>
            <a:ext cx="9979561" cy="6858000"/>
          </a:xfrm>
          <a:prstGeom prst="flowChartProcess">
            <a:avLst/>
          </a:prstGeom>
          <a:gradFill>
            <a:gsLst>
              <a:gs pos="80000">
                <a:srgbClr val="D5E2EA"/>
              </a:gs>
              <a:gs pos="1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endParaRPr lang="fr-FR" b="1" cap="small" dirty="0">
              <a:solidFill>
                <a:schemeClr val="tx1"/>
              </a:solidFill>
              <a:latin typeface="Bell MT" panose="02020503060305020303" pitchFamily="18" charset="0"/>
            </a:endParaRPr>
          </a:p>
        </p:txBody>
      </p:sp>
      <p:sp>
        <p:nvSpPr>
          <p:cNvPr id="12" name="Flowchart: Manual Input 11"/>
          <p:cNvSpPr/>
          <p:nvPr/>
        </p:nvSpPr>
        <p:spPr>
          <a:xfrm>
            <a:off x="-244550" y="5107460"/>
            <a:ext cx="10150549" cy="181687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640 h 11640"/>
              <a:gd name="connsiteX1" fmla="*/ 7302 w 10000"/>
              <a:gd name="connsiteY1" fmla="*/ 0 h 11640"/>
              <a:gd name="connsiteX2" fmla="*/ 10000 w 10000"/>
              <a:gd name="connsiteY2" fmla="*/ 1640 h 11640"/>
              <a:gd name="connsiteX3" fmla="*/ 10000 w 10000"/>
              <a:gd name="connsiteY3" fmla="*/ 11640 h 11640"/>
              <a:gd name="connsiteX4" fmla="*/ 0 w 10000"/>
              <a:gd name="connsiteY4" fmla="*/ 11640 h 11640"/>
              <a:gd name="connsiteX5" fmla="*/ 0 w 10000"/>
              <a:gd name="connsiteY5"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 name="connsiteX0" fmla="*/ 0 w 10000"/>
              <a:gd name="connsiteY0" fmla="*/ 3640 h 11640"/>
              <a:gd name="connsiteX1" fmla="*/ 2736 w 10000"/>
              <a:gd name="connsiteY1" fmla="*/ 5116 h 11640"/>
              <a:gd name="connsiteX2" fmla="*/ 7302 w 10000"/>
              <a:gd name="connsiteY2" fmla="*/ 0 h 11640"/>
              <a:gd name="connsiteX3" fmla="*/ 10000 w 10000"/>
              <a:gd name="connsiteY3" fmla="*/ 1640 h 11640"/>
              <a:gd name="connsiteX4" fmla="*/ 10000 w 10000"/>
              <a:gd name="connsiteY4" fmla="*/ 11640 h 11640"/>
              <a:gd name="connsiteX5" fmla="*/ 0 w 10000"/>
              <a:gd name="connsiteY5" fmla="*/ 11640 h 11640"/>
              <a:gd name="connsiteX6" fmla="*/ 0 w 10000"/>
              <a:gd name="connsiteY6" fmla="*/ 3640 h 1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1640">
                <a:moveTo>
                  <a:pt x="0" y="3640"/>
                </a:moveTo>
                <a:cubicBezTo>
                  <a:pt x="404" y="2098"/>
                  <a:pt x="1282" y="5177"/>
                  <a:pt x="2736" y="5116"/>
                </a:cubicBezTo>
                <a:cubicBezTo>
                  <a:pt x="4190" y="5055"/>
                  <a:pt x="5702" y="-55"/>
                  <a:pt x="7302" y="0"/>
                </a:cubicBezTo>
                <a:cubicBezTo>
                  <a:pt x="8902" y="55"/>
                  <a:pt x="9101" y="1093"/>
                  <a:pt x="10000" y="1640"/>
                </a:cubicBezTo>
                <a:lnTo>
                  <a:pt x="10000" y="11640"/>
                </a:lnTo>
                <a:lnTo>
                  <a:pt x="0" y="11640"/>
                </a:lnTo>
                <a:lnTo>
                  <a:pt x="0" y="3640"/>
                </a:lnTo>
                <a:close/>
              </a:path>
            </a:pathLst>
          </a:custGeom>
          <a:solidFill>
            <a:schemeClr val="accent1">
              <a:alpha val="48000"/>
            </a:schemeClr>
          </a:solidFill>
          <a:ln w="238125">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b="1" dirty="0"/>
          </a:p>
        </p:txBody>
      </p:sp>
      <p:pic>
        <p:nvPicPr>
          <p:cNvPr id="21" name="Picture 20"/>
          <p:cNvPicPr>
            <a:picLocks noChangeAspect="1"/>
          </p:cNvPicPr>
          <p:nvPr/>
        </p:nvPicPr>
        <p:blipFill>
          <a:blip r:embed="rId2"/>
          <a:stretch>
            <a:fillRect/>
          </a:stretch>
        </p:blipFill>
        <p:spPr>
          <a:xfrm rot="5400000">
            <a:off x="-2680726" y="2459202"/>
            <a:ext cx="1782903" cy="622805"/>
          </a:xfrm>
          <a:prstGeom prst="rect">
            <a:avLst/>
          </a:prstGeom>
        </p:spPr>
      </p:pic>
      <p:pic>
        <p:nvPicPr>
          <p:cNvPr id="22" name="Picture 4" descr="900+ des meilleures idées de couleurs de la nature à enregistrer  aujourd'hui | palette couleur, decoration, nuancier couleur et bien plus  encore"/>
          <p:cNvPicPr>
            <a:picLocks noChangeAspect="1" noChangeArrowheads="1"/>
          </p:cNvPicPr>
          <p:nvPr/>
        </p:nvPicPr>
        <p:blipFill rotWithShape="1">
          <a:blip r:embed="rId3">
            <a:extLst>
              <a:ext uri="{28A0092B-C50C-407E-A947-70E740481C1C}">
                <a14:useLocalDpi xmlns:a14="http://schemas.microsoft.com/office/drawing/2010/main" val="0"/>
              </a:ext>
            </a:extLst>
          </a:blip>
          <a:srcRect l="67708"/>
          <a:stretch/>
        </p:blipFill>
        <p:spPr bwMode="auto">
          <a:xfrm>
            <a:off x="-1999291" y="3932786"/>
            <a:ext cx="528128" cy="17829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Comment trouver les couleurs de son spa, cabinet ou centre de soin – Mélody  Person Masseuse-Kinésithérapeute – le coKon"/>
          <p:cNvPicPr>
            <a:picLocks noChangeAspect="1" noChangeArrowheads="1"/>
          </p:cNvPicPr>
          <p:nvPr/>
        </p:nvPicPr>
        <p:blipFill rotWithShape="1">
          <a:blip r:embed="rId4">
            <a:extLst>
              <a:ext uri="{28A0092B-C50C-407E-A947-70E740481C1C}">
                <a14:useLocalDpi xmlns:a14="http://schemas.microsoft.com/office/drawing/2010/main" val="0"/>
              </a:ext>
            </a:extLst>
          </a:blip>
          <a:srcRect l="62648"/>
          <a:stretch/>
        </p:blipFill>
        <p:spPr bwMode="auto">
          <a:xfrm>
            <a:off x="-2069635" y="149696"/>
            <a:ext cx="540461" cy="1656247"/>
          </a:xfrm>
          <a:prstGeom prst="rect">
            <a:avLst/>
          </a:prstGeom>
          <a:noFill/>
          <a:extLst>
            <a:ext uri="{909E8E84-426E-40DD-AFC4-6F175D3DCCD1}">
              <a14:hiddenFill xmlns:a14="http://schemas.microsoft.com/office/drawing/2010/main">
                <a:solidFill>
                  <a:srgbClr val="FFFFFF"/>
                </a:solidFill>
              </a14:hiddenFill>
            </a:ext>
          </a:extLst>
        </p:spPr>
      </p:pic>
      <p:sp>
        <p:nvSpPr>
          <p:cNvPr id="29" name="AutoShape 4" descr="Faculté des Sciences – Université Badji Mokhtar-Annab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4" name="Freeform 53"/>
          <p:cNvSpPr/>
          <p:nvPr/>
        </p:nvSpPr>
        <p:spPr>
          <a:xfrm>
            <a:off x="-96522" y="-1195"/>
            <a:ext cx="412242" cy="1633854"/>
          </a:xfrm>
          <a:custGeom>
            <a:avLst/>
            <a:gdLst>
              <a:gd name="connsiteX0" fmla="*/ 0 w 412242"/>
              <a:gd name="connsiteY0" fmla="*/ 0 h 1633854"/>
              <a:gd name="connsiteX1" fmla="*/ 412242 w 412242"/>
              <a:gd name="connsiteY1" fmla="*/ 206121 h 1633854"/>
              <a:gd name="connsiteX2" fmla="*/ 412242 w 412242"/>
              <a:gd name="connsiteY2" fmla="*/ 1427733 h 1633854"/>
              <a:gd name="connsiteX3" fmla="*/ 0 w 412242"/>
              <a:gd name="connsiteY3" fmla="*/ 1633854 h 1633854"/>
              <a:gd name="connsiteX4" fmla="*/ 0 w 412242"/>
              <a:gd name="connsiteY4" fmla="*/ 0 h 1633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42" h="1633854">
                <a:moveTo>
                  <a:pt x="0" y="0"/>
                </a:moveTo>
                <a:lnTo>
                  <a:pt x="412242" y="206121"/>
                </a:lnTo>
                <a:lnTo>
                  <a:pt x="412242" y="1427733"/>
                </a:lnTo>
                <a:lnTo>
                  <a:pt x="0" y="1633854"/>
                </a:lnTo>
                <a:lnTo>
                  <a:pt x="0" y="0"/>
                </a:lnTo>
                <a:close/>
              </a:path>
            </a:pathLst>
          </a:custGeom>
          <a:solidFill>
            <a:srgbClr val="6E9E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Freeform 26"/>
          <p:cNvSpPr/>
          <p:nvPr/>
        </p:nvSpPr>
        <p:spPr>
          <a:xfrm rot="16200000">
            <a:off x="4402073" y="-631886"/>
            <a:ext cx="651101" cy="1810459"/>
          </a:xfrm>
          <a:custGeom>
            <a:avLst/>
            <a:gdLst>
              <a:gd name="connsiteX0" fmla="*/ 651101 w 651101"/>
              <a:gd name="connsiteY0" fmla="*/ 0 h 1810459"/>
              <a:gd name="connsiteX1" fmla="*/ 651100 w 651101"/>
              <a:gd name="connsiteY1" fmla="*/ 1810459 h 1810459"/>
              <a:gd name="connsiteX2" fmla="*/ 452615 w 651101"/>
              <a:gd name="connsiteY2" fmla="*/ 1810459 h 1810459"/>
              <a:gd name="connsiteX3" fmla="*/ 0 w 651101"/>
              <a:gd name="connsiteY3" fmla="*/ 905230 h 1810459"/>
              <a:gd name="connsiteX4" fmla="*/ 452616 w 651101"/>
              <a:gd name="connsiteY4" fmla="*/ 0 h 1810459"/>
              <a:gd name="connsiteX5" fmla="*/ 651101 w 651101"/>
              <a:gd name="connsiteY5" fmla="*/ 0 h 1810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101" h="1810459">
                <a:moveTo>
                  <a:pt x="651101" y="0"/>
                </a:moveTo>
                <a:lnTo>
                  <a:pt x="651100" y="1810459"/>
                </a:lnTo>
                <a:lnTo>
                  <a:pt x="452615" y="1810459"/>
                </a:lnTo>
                <a:lnTo>
                  <a:pt x="0" y="905230"/>
                </a:lnTo>
                <a:lnTo>
                  <a:pt x="452616" y="0"/>
                </a:lnTo>
                <a:lnTo>
                  <a:pt x="651101" y="0"/>
                </a:lnTo>
                <a:close/>
              </a:path>
            </a:pathLst>
          </a:custGeom>
          <a:solidFill>
            <a:srgbClr val="6E9E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28" name="Freeform 27"/>
          <p:cNvSpPr/>
          <p:nvPr/>
        </p:nvSpPr>
        <p:spPr>
          <a:xfrm rot="5400000">
            <a:off x="8638297" y="3291723"/>
            <a:ext cx="1962278" cy="740666"/>
          </a:xfrm>
          <a:custGeom>
            <a:avLst/>
            <a:gdLst>
              <a:gd name="connsiteX0" fmla="*/ 0 w 1962278"/>
              <a:gd name="connsiteY0" fmla="*/ 0 h 740666"/>
              <a:gd name="connsiteX1" fmla="*/ 1962278 w 1962278"/>
              <a:gd name="connsiteY1" fmla="*/ 0 h 740666"/>
              <a:gd name="connsiteX2" fmla="*/ 1591945 w 1962278"/>
              <a:gd name="connsiteY2" fmla="*/ 740666 h 740666"/>
              <a:gd name="connsiteX3" fmla="*/ 370333 w 1962278"/>
              <a:gd name="connsiteY3" fmla="*/ 740666 h 740666"/>
              <a:gd name="connsiteX4" fmla="*/ 0 w 1962278"/>
              <a:gd name="connsiteY4" fmla="*/ 0 h 74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278" h="740666">
                <a:moveTo>
                  <a:pt x="0" y="0"/>
                </a:moveTo>
                <a:lnTo>
                  <a:pt x="1962278" y="0"/>
                </a:lnTo>
                <a:lnTo>
                  <a:pt x="1591945" y="740666"/>
                </a:lnTo>
                <a:lnTo>
                  <a:pt x="370333" y="740666"/>
                </a:lnTo>
                <a:lnTo>
                  <a:pt x="0" y="0"/>
                </a:lnTo>
                <a:close/>
              </a:path>
            </a:pathLst>
          </a:custGeom>
          <a:solidFill>
            <a:srgbClr val="6E9E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u="sng"/>
          </a:p>
        </p:txBody>
      </p:sp>
      <p:sp>
        <p:nvSpPr>
          <p:cNvPr id="2" name="TextBox 1"/>
          <p:cNvSpPr txBox="1"/>
          <p:nvPr/>
        </p:nvSpPr>
        <p:spPr>
          <a:xfrm>
            <a:off x="405666" y="150408"/>
            <a:ext cx="4466292" cy="1877437"/>
          </a:xfrm>
          <a:prstGeom prst="rect">
            <a:avLst/>
          </a:prstGeom>
          <a:noFill/>
        </p:spPr>
        <p:txBody>
          <a:bodyPr wrap="square" rtlCol="0">
            <a:spAutoFit/>
          </a:bodyPr>
          <a:lstStyle/>
          <a:p>
            <a:pPr algn="ctr"/>
            <a:r>
              <a:rPr lang="fr-FR" sz="1400" b="1" cap="small" dirty="0">
                <a:ln w="9525">
                  <a:solidFill>
                    <a:schemeClr val="accent1"/>
                  </a:solidFill>
                  <a:prstDash val="solid"/>
                </a:ln>
                <a:solidFill>
                  <a:schemeClr val="accent1"/>
                </a:solidFill>
                <a:latin typeface="Gadugi" panose="020B0502040204020203" pitchFamily="34" charset="0"/>
                <a:cs typeface="Times New Roman" panose="02020603050405020304" pitchFamily="18" charset="0"/>
              </a:rPr>
              <a:t>Président d’honneur  </a:t>
            </a:r>
            <a:endParaRPr lang="fr-FR" sz="14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a:p>
            <a:pPr algn="ctr"/>
            <a:endParaRPr lang="fr-FR" sz="1400" b="1" cap="small" dirty="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a:p>
            <a:pPr marL="171450" indent="-171450" algn="just">
              <a:buFont typeface="Arial" panose="020B0604020202020204" pitchFamily="34" charset="0"/>
              <a:buChar char="•"/>
            </a:pPr>
            <a:r>
              <a:rPr lang="fr-FR" sz="1200" dirty="0">
                <a:latin typeface="Gadugi" panose="020B0502040204020203" pitchFamily="34" charset="0"/>
                <a:cs typeface="Times New Roman" panose="02020603050405020304" pitchFamily="18" charset="0"/>
              </a:rPr>
              <a:t>Pr. MANAA </a:t>
            </a:r>
            <a:r>
              <a:rPr lang="fr-FR" sz="1200" dirty="0" smtClean="0">
                <a:latin typeface="Gadugi" panose="020B0502040204020203" pitchFamily="34" charset="0"/>
                <a:cs typeface="Times New Roman" panose="02020603050405020304" pitchFamily="18" charset="0"/>
              </a:rPr>
              <a:t>Mohamed, Recteur </a:t>
            </a:r>
            <a:r>
              <a:rPr lang="fr-FR" sz="1200" dirty="0">
                <a:latin typeface="Gadugi" panose="020B0502040204020203" pitchFamily="34" charset="0"/>
                <a:cs typeface="Times New Roman" panose="02020603050405020304" pitchFamily="18" charset="0"/>
              </a:rPr>
              <a:t>de l’Université de Annaba  </a:t>
            </a:r>
            <a:endParaRPr lang="fr-FR" sz="1200" dirty="0" smtClean="0">
              <a:latin typeface="Gadugi" panose="020B0502040204020203" pitchFamily="34" charset="0"/>
              <a:cs typeface="Times New Roman" panose="02020603050405020304" pitchFamily="18" charset="0"/>
            </a:endParaRPr>
          </a:p>
          <a:p>
            <a:pPr marL="171450" indent="-171450" algn="just">
              <a:buFont typeface="Arial" panose="020B0604020202020204" pitchFamily="34" charset="0"/>
              <a:buChar char="•"/>
            </a:pPr>
            <a:r>
              <a:rPr lang="fr-FR" sz="1200" dirty="0">
                <a:latin typeface="Gadugi" panose="020B0502040204020203" pitchFamily="34" charset="0"/>
                <a:cs typeface="Times New Roman" panose="02020603050405020304" pitchFamily="18" charset="0"/>
              </a:rPr>
              <a:t>Pr. DJEBABLA </a:t>
            </a:r>
            <a:r>
              <a:rPr lang="fr-FR" sz="1200" dirty="0" err="1" smtClean="0">
                <a:latin typeface="Gadugi" panose="020B0502040204020203" pitchFamily="34" charset="0"/>
                <a:cs typeface="Times New Roman" panose="02020603050405020304" pitchFamily="18" charset="0"/>
              </a:rPr>
              <a:t>Abdelhak</a:t>
            </a:r>
            <a:r>
              <a:rPr lang="fr-FR" sz="1200" dirty="0" smtClean="0">
                <a:latin typeface="Gadugi" panose="020B0502040204020203" pitchFamily="34" charset="0"/>
                <a:cs typeface="Times New Roman" panose="02020603050405020304" pitchFamily="18" charset="0"/>
              </a:rPr>
              <a:t>, Doyen de la Faculté des Sciences </a:t>
            </a:r>
          </a:p>
          <a:p>
            <a:pPr marL="171450" indent="-171450" algn="just">
              <a:buFont typeface="Arial" panose="020B0604020202020204" pitchFamily="34" charset="0"/>
              <a:buChar char="•"/>
            </a:pPr>
            <a:r>
              <a:rPr lang="fr-FR" sz="1200" dirty="0" smtClean="0">
                <a:latin typeface="Gadugi" panose="020B0502040204020203" pitchFamily="34" charset="0"/>
                <a:cs typeface="Times New Roman" panose="02020603050405020304" pitchFamily="18" charset="0"/>
              </a:rPr>
              <a:t>Pr. </a:t>
            </a:r>
            <a:r>
              <a:rPr lang="fr-FR" sz="1200" dirty="0" smtClean="0">
                <a:latin typeface="Gadugi" panose="020B0502040204020203" pitchFamily="34" charset="0"/>
              </a:rPr>
              <a:t>SERIDI </a:t>
            </a:r>
            <a:r>
              <a:rPr lang="fr-FR" sz="1200" dirty="0" err="1" smtClean="0">
                <a:latin typeface="Gadugi" panose="020B0502040204020203" pitchFamily="34" charset="0"/>
              </a:rPr>
              <a:t>Ratiba</a:t>
            </a:r>
            <a:r>
              <a:rPr lang="fr-FR" sz="1200" dirty="0" smtClean="0">
                <a:latin typeface="Gadugi" panose="020B0502040204020203" pitchFamily="34" charset="0"/>
              </a:rPr>
              <a:t>, </a:t>
            </a:r>
            <a:r>
              <a:rPr lang="fr-FR" sz="1200" dirty="0">
                <a:latin typeface="Gadugi" panose="020B0502040204020203" pitchFamily="34" charset="0"/>
              </a:rPr>
              <a:t>Directrice du Laboratoire </a:t>
            </a:r>
            <a:r>
              <a:rPr lang="fr-FR" sz="1200" dirty="0" smtClean="0">
                <a:latin typeface="Gadugi" panose="020B0502040204020203" pitchFamily="34" charset="0"/>
              </a:rPr>
              <a:t> Professeur </a:t>
            </a:r>
            <a:r>
              <a:rPr lang="fr-FR" sz="1200" dirty="0">
                <a:latin typeface="Gadugi" panose="020B0502040204020203" pitchFamily="34" charset="0"/>
              </a:rPr>
              <a:t>émérite à la retraite </a:t>
            </a:r>
            <a:endParaRPr lang="fr-FR" sz="1200" dirty="0" smtClean="0">
              <a:latin typeface="Gadugi" panose="020B0502040204020203" pitchFamily="34" charset="0"/>
            </a:endParaRPr>
          </a:p>
          <a:p>
            <a:pPr marL="171450" indent="-171450" algn="just"/>
            <a:endParaRPr lang="fr-FR" sz="1200" dirty="0" smtClean="0">
              <a:latin typeface="Gadugi" panose="020B0502040204020203" pitchFamily="34" charset="0"/>
            </a:endParaRPr>
          </a:p>
          <a:p>
            <a:pPr algn="ctr"/>
            <a:r>
              <a:rPr lang="fr-FR" sz="14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rPr>
              <a:t>Présidente du séminaire</a:t>
            </a:r>
          </a:p>
          <a:p>
            <a:pPr algn="ctr"/>
            <a:r>
              <a:rPr lang="fr-FR" sz="1400" b="1" cap="small" dirty="0" smtClean="0">
                <a:latin typeface="Gadugi" panose="020B0502040204020203" pitchFamily="34" charset="0"/>
              </a:rPr>
              <a:t>Pr. SADOU </a:t>
            </a:r>
            <a:r>
              <a:rPr lang="fr-FR" sz="1400" b="1" cap="small" dirty="0" err="1" smtClean="0">
                <a:latin typeface="Gadugi" panose="020B0502040204020203" pitchFamily="34" charset="0"/>
              </a:rPr>
              <a:t>nina</a:t>
            </a:r>
            <a:r>
              <a:rPr lang="fr-FR" sz="1400" b="1" cap="small" dirty="0" smtClean="0">
                <a:latin typeface="Gadugi" panose="020B0502040204020203" pitchFamily="34" charset="0"/>
              </a:rPr>
              <a:t> </a:t>
            </a:r>
            <a:endParaRPr lang="fr-FR" sz="1400" b="1" cap="small" dirty="0">
              <a:latin typeface="Gadugi" panose="020B0502040204020203" pitchFamily="34" charset="0"/>
            </a:endParaRPr>
          </a:p>
        </p:txBody>
      </p:sp>
      <p:sp>
        <p:nvSpPr>
          <p:cNvPr id="3" name="TextBox 2"/>
          <p:cNvSpPr txBox="1"/>
          <p:nvPr/>
        </p:nvSpPr>
        <p:spPr>
          <a:xfrm>
            <a:off x="271217" y="2165593"/>
            <a:ext cx="4736717" cy="4770537"/>
          </a:xfrm>
          <a:prstGeom prst="rect">
            <a:avLst/>
          </a:prstGeom>
          <a:noFill/>
        </p:spPr>
        <p:txBody>
          <a:bodyPr wrap="square" rtlCol="0">
            <a:spAutoFit/>
          </a:bodyPr>
          <a:lstStyle/>
          <a:p>
            <a:pPr algn="ctr"/>
            <a:r>
              <a:rPr lang="fr-FR" sz="14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rPr>
              <a:t>Comité d’organisation</a:t>
            </a:r>
          </a:p>
          <a:p>
            <a:pPr algn="ctr"/>
            <a:endParaRPr lang="fr-FR" sz="14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cs typeface="Times New Roman" panose="02020603050405020304" pitchFamily="18" charset="0"/>
              </a:rPr>
              <a:t> Pr</a:t>
            </a:r>
            <a:r>
              <a:rPr lang="fr-FR" altLang="fr-FR" sz="1200" dirty="0">
                <a:latin typeface="Gadugi" panose="020B0502040204020203" pitchFamily="34" charset="0"/>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Bekhouche</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a:latin typeface="Gadugi" panose="020B0502040204020203" pitchFamily="34" charset="0"/>
                <a:ea typeface="SimHei" panose="02010609060101010101" pitchFamily="49" charset="-122"/>
                <a:cs typeface="Times New Roman" panose="02020603050405020304" pitchFamily="18" charset="0"/>
              </a:rPr>
              <a:t>Fatiha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 </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Tahar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Wafa</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(Présidente,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 </a:t>
            </a:r>
          </a:p>
          <a:p>
            <a:pPr lvl="0" defTabSz="914400" eaLnBrk="0" fontAlgn="base" hangingPunct="0">
              <a:spcBef>
                <a:spcPct val="0"/>
              </a:spcBef>
              <a:spcAft>
                <a:spcPct val="0"/>
              </a:spcAft>
              <a:buFont typeface="Arial" panose="020B0604020202020204" pitchFamily="34" charset="0"/>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Soufiane</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Ismahene</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 </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Aimeur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Nadjette</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 </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Bouzebda</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Abderrezak</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Skikda)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Laouar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Hadia</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Univ.Guelma</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Bourouhou</a:t>
            </a:r>
            <a:r>
              <a:rPr lang="fr-FR" altLang="fr-FR" sz="1200" dirty="0">
                <a:latin typeface="Gadugi" panose="020B0502040204020203" pitchFamily="34" charset="0"/>
                <a:ea typeface="SimHei" panose="02010609060101010101" pitchFamily="49" charset="-122"/>
                <a:cs typeface="Times New Roman" panose="02020603050405020304" pitchFamily="18" charset="0"/>
              </a:rPr>
              <a:t> Mourad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Unlv.Annaba</a:t>
            </a:r>
            <a:r>
              <a:rPr lang="fr-FR" altLang="fr-FR" sz="1200" dirty="0">
                <a:latin typeface="Gadugi" panose="020B0502040204020203" pitchFamily="34" charset="0"/>
                <a:ea typeface="SimHei" panose="02010609060101010101" pitchFamily="49" charset="-122"/>
                <a:cs typeface="Times New Roman" panose="02020603050405020304" pitchFamily="18" charset="0"/>
              </a:rPr>
              <a:t>)</a:t>
            </a:r>
          </a:p>
          <a:p>
            <a:pPr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Meraghni</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Messaouda</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(vice-présidente,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 </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Fetnaci</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Imene</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Laskri</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Hadjer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Ouchtati</a:t>
            </a:r>
            <a:r>
              <a:rPr lang="fr-FR" altLang="fr-FR" sz="1200" dirty="0">
                <a:latin typeface="Gadugi" panose="020B0502040204020203" pitchFamily="34" charset="0"/>
                <a:ea typeface="SimHei" panose="02010609060101010101" pitchFamily="49" charset="-122"/>
                <a:cs typeface="Times New Roman" panose="02020603050405020304" pitchFamily="18" charset="0"/>
              </a:rPr>
              <a:t> Sara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Skikda)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Daroui</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Atika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Sétif)</a:t>
            </a:r>
          </a:p>
          <a:p>
            <a:pPr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Meksem</a:t>
            </a:r>
            <a:r>
              <a:rPr lang="fr-FR" altLang="fr-FR" sz="1200" dirty="0">
                <a:latin typeface="Gadugi" panose="020B0502040204020203" pitchFamily="34" charset="0"/>
                <a:ea typeface="SimHei" panose="02010609060101010101" pitchFamily="49" charset="-122"/>
                <a:cs typeface="Times New Roman" panose="02020603050405020304" pitchFamily="18" charset="0"/>
              </a:rPr>
              <a:t> Nabila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(vice-présidente,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Annaba)</a:t>
            </a:r>
            <a:endParaRPr lang="fr-FR" altLang="fr-FR" sz="1200" dirty="0">
              <a:latin typeface="Gadugi" panose="020B0502040204020203" pitchFamily="34" charset="0"/>
              <a:ea typeface="SimHei" panose="02010609060101010101" pitchFamily="49" charset="-122"/>
              <a:cs typeface="Times New Roman" panose="02020603050405020304" pitchFamily="18" charset="0"/>
            </a:endParaRP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Ziat</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Nour</a:t>
            </a:r>
            <a:r>
              <a:rPr lang="fr-FR" altLang="fr-FR" sz="1200" dirty="0">
                <a:latin typeface="Gadugi" panose="020B0502040204020203" pitchFamily="34" charset="0"/>
                <a:ea typeface="SimHei" panose="02010609060101010101" pitchFamily="49" charset="-122"/>
                <a:cs typeface="Times New Roman" panose="02020603050405020304" pitchFamily="18" charset="0"/>
              </a:rPr>
              <a:t> El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Houda</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Ounnas</a:t>
            </a:r>
            <a:r>
              <a:rPr lang="fr-FR" altLang="fr-FR" sz="1200" dirty="0">
                <a:latin typeface="Gadugi" panose="020B0502040204020203" pitchFamily="34" charset="0"/>
                <a:ea typeface="SimHei" panose="02010609060101010101" pitchFamily="49" charset="-122"/>
                <a:cs typeface="Times New Roman" panose="02020603050405020304" pitchFamily="18" charset="0"/>
              </a:rPr>
              <a:t> Soraya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Benhadid</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Ryme</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ELTarf</a:t>
            </a:r>
            <a:r>
              <a:rPr lang="fr-FR" altLang="fr-FR" sz="1200" dirty="0">
                <a:latin typeface="Gadugi" panose="020B0502040204020203" pitchFamily="34" charset="0"/>
                <a:ea typeface="SimHei" panose="02010609060101010101" pitchFamily="49" charset="-122"/>
                <a:cs typeface="Times New Roman" panose="02020603050405020304" pitchFamily="18" charset="0"/>
              </a:rPr>
              <a:t>)</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Dr</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Refes-Sahri</a:t>
            </a:r>
            <a:r>
              <a:rPr lang="fr-FR" altLang="fr-FR" sz="1200" dirty="0">
                <a:latin typeface="Gadugi" panose="020B0502040204020203" pitchFamily="34" charset="0"/>
                <a:ea typeface="SimHei" panose="02010609060101010101" pitchFamily="49" charset="-122"/>
                <a:cs typeface="Times New Roman" panose="02020603050405020304" pitchFamily="18" charset="0"/>
              </a:rPr>
              <a:t> Fatma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a:latin typeface="Gadugi" panose="020B0502040204020203" pitchFamily="34" charset="0"/>
                <a:ea typeface="SimHei" panose="02010609060101010101" pitchFamily="49" charset="-122"/>
                <a:cs typeface="Times New Roman" panose="02020603050405020304" pitchFamily="18" charset="0"/>
              </a:rPr>
              <a:t>(</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lvl="0"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Mme</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Gurib</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Ismahene</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Annaba)</a:t>
            </a:r>
          </a:p>
          <a:p>
            <a:pPr defTabSz="914400" eaLnBrk="0" fontAlgn="base" hangingPunct="0">
              <a:spcBef>
                <a:spcPct val="0"/>
              </a:spcBef>
              <a:spcAft>
                <a:spcPct val="0"/>
              </a:spcAft>
              <a:buFontTx/>
              <a:buChar char="•"/>
            </a:pPr>
            <a:r>
              <a:rPr lang="fr-FR" altLang="fr-FR" sz="1200" dirty="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Mlle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Ouennougui</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Nesma</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(Doctorante,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defTabSz="914400" eaLnBrk="0" fontAlgn="base" hangingPunct="0">
              <a:spcBef>
                <a:spcPct val="0"/>
              </a:spcBef>
              <a:spcAft>
                <a:spcPct val="0"/>
              </a:spcAft>
              <a:buFontTx/>
              <a:buChar char="•"/>
            </a:pP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Mlle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Boutemedjet</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a:t>
            </a:r>
            <a:r>
              <a:rPr lang="fr-FR" altLang="fr-FR" sz="1200" dirty="0" err="1" smtClean="0">
                <a:latin typeface="Gadugi" panose="020B0502040204020203" pitchFamily="34" charset="0"/>
                <a:ea typeface="SimHei" panose="02010609060101010101" pitchFamily="49" charset="-122"/>
                <a:cs typeface="Times New Roman" panose="02020603050405020304" pitchFamily="18" charset="0"/>
              </a:rPr>
              <a:t>Imene</a:t>
            </a:r>
            <a:r>
              <a:rPr lang="fr-FR" altLang="fr-FR" sz="1200" dirty="0" smtClean="0">
                <a:latin typeface="Gadugi" panose="020B0502040204020203" pitchFamily="34" charset="0"/>
                <a:ea typeface="SimHei" panose="02010609060101010101" pitchFamily="49" charset="-122"/>
                <a:cs typeface="Times New Roman" panose="02020603050405020304" pitchFamily="18" charset="0"/>
              </a:rPr>
              <a:t>               (Doctorante, </a:t>
            </a:r>
            <a:r>
              <a:rPr lang="fr-FR" altLang="fr-FR" sz="1200" dirty="0" err="1">
                <a:latin typeface="Gadugi" panose="020B0502040204020203" pitchFamily="34" charset="0"/>
                <a:ea typeface="SimHei" panose="02010609060101010101" pitchFamily="49" charset="-122"/>
                <a:cs typeface="Times New Roman" panose="02020603050405020304" pitchFamily="18" charset="0"/>
              </a:rPr>
              <a:t>Univ</a:t>
            </a:r>
            <a:r>
              <a:rPr lang="fr-FR" altLang="fr-FR" sz="1200" dirty="0">
                <a:latin typeface="Gadugi" panose="020B0502040204020203" pitchFamily="34" charset="0"/>
                <a:ea typeface="SimHei" panose="02010609060101010101" pitchFamily="49" charset="-122"/>
                <a:cs typeface="Times New Roman" panose="02020603050405020304" pitchFamily="18" charset="0"/>
              </a:rPr>
              <a:t>. Annaba)</a:t>
            </a:r>
          </a:p>
          <a:p>
            <a:pPr lvl="0" defTabSz="914400" eaLnBrk="0" fontAlgn="base" hangingPunct="0">
              <a:spcBef>
                <a:spcPct val="0"/>
              </a:spcBef>
              <a:spcAft>
                <a:spcPct val="0"/>
              </a:spcAft>
              <a:buFontTx/>
              <a:buChar char="•"/>
            </a:pPr>
            <a:endParaRPr lang="fr-FR" altLang="fr-FR" sz="1200" dirty="0">
              <a:latin typeface="Gadugi" panose="020B0502040204020203" pitchFamily="34" charset="0"/>
              <a:ea typeface="SimHei" panose="02010609060101010101" pitchFamily="49" charset="-122"/>
              <a:cs typeface="Times New Roman" panose="02020603050405020304" pitchFamily="18" charset="0"/>
            </a:endParaRPr>
          </a:p>
          <a:p>
            <a:pPr algn="ctr"/>
            <a:endParaRPr lang="fr-FR" sz="12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a:p>
            <a:pPr lvl="0" defTabSz="914400" eaLnBrk="0" fontAlgn="base" hangingPunct="0">
              <a:spcBef>
                <a:spcPct val="0"/>
              </a:spcBef>
              <a:spcAft>
                <a:spcPct val="0"/>
              </a:spcAft>
              <a:buFontTx/>
              <a:buChar char="•"/>
            </a:pPr>
            <a:r>
              <a:rPr lang="fr-FR" sz="12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rPr>
              <a:t> </a:t>
            </a:r>
            <a:endParaRPr lang="fr-FR" sz="1200" b="1" cap="small" dirty="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p:txBody>
      </p:sp>
      <p:sp>
        <p:nvSpPr>
          <p:cNvPr id="32" name="TextBox 31"/>
          <p:cNvSpPr txBox="1"/>
          <p:nvPr/>
        </p:nvSpPr>
        <p:spPr>
          <a:xfrm>
            <a:off x="5139253" y="363255"/>
            <a:ext cx="5111526" cy="6401753"/>
          </a:xfrm>
          <a:prstGeom prst="rect">
            <a:avLst/>
          </a:prstGeom>
          <a:noFill/>
        </p:spPr>
        <p:txBody>
          <a:bodyPr wrap="square" rtlCol="0">
            <a:spAutoFit/>
          </a:bodyPr>
          <a:lstStyle/>
          <a:p>
            <a:pPr algn="ctr"/>
            <a:r>
              <a:rPr lang="fr-FR" sz="1400" b="1"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rPr>
              <a:t>Comité Scientifique</a:t>
            </a:r>
          </a:p>
          <a:p>
            <a:pPr algn="just"/>
            <a:endParaRPr lang="fr-FR" sz="1200"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Emérite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Seridi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Ratiba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Ali Ahmed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Monia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eaLnBrk="0" fontAlgn="base" hangingPunct="0">
              <a:lnSpc>
                <a:spcPct val="100000"/>
              </a:lnSpc>
              <a:spcBef>
                <a:spcPct val="0"/>
              </a:spcBef>
              <a:spcAft>
                <a:spcPct val="0"/>
              </a:spcAft>
              <a:buClrTx/>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Sadou</a:t>
            </a:r>
            <a:r>
              <a:rPr lang="fr-FR" altLang="fr-FR" sz="1200" dirty="0" smtClean="0">
                <a:latin typeface="Gadugi" panose="020B0502040204020203" pitchFamily="34" charset="0"/>
                <a:ea typeface="Cambria" panose="02040503050406030204" pitchFamily="18" charset="0"/>
                <a:cs typeface="Amiri" panose="00000500000000000000" pitchFamily="2" charset="-78"/>
              </a:rPr>
              <a:t> Nina                                 (Présidente,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Ali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Rachedi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Fahima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Souk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Ahras</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Boughendjioua</a:t>
            </a:r>
            <a:r>
              <a:rPr lang="fr-FR" altLang="fr-FR" sz="1200" dirty="0" smtClean="0">
                <a:latin typeface="Gadugi" panose="020B0502040204020203" pitchFamily="34" charset="0"/>
                <a:ea typeface="Cambria" panose="02040503050406030204" pitchFamily="18" charset="0"/>
                <a:cs typeface="Amiri" panose="00000500000000000000" pitchFamily="2" charset="-78"/>
              </a:rPr>
              <a:t> Hicham               (ENSET. Skikda)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Haouam</a:t>
            </a:r>
            <a:r>
              <a:rPr lang="fr-FR" altLang="fr-FR" sz="1200" dirty="0" smtClean="0">
                <a:latin typeface="Gadugi" panose="020B0502040204020203" pitchFamily="34" charset="0"/>
                <a:ea typeface="Cambria" panose="02040503050406030204" pitchFamily="18" charset="0"/>
                <a:cs typeface="Amiri" panose="00000500000000000000" pitchFamily="2" charset="-78"/>
              </a:rPr>
              <a:t> Lynda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Souk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Ahras</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Laredj</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Hacène</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Bendif</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Hamedi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Msila)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Benkherara</a:t>
            </a:r>
            <a:r>
              <a:rPr lang="fr-FR" altLang="fr-FR" sz="1200" dirty="0" smtClean="0">
                <a:latin typeface="Gadugi" panose="020B0502040204020203" pitchFamily="34" charset="0"/>
                <a:ea typeface="Cambria" panose="02040503050406030204" pitchFamily="18" charset="0"/>
                <a:cs typeface="Amiri" panose="00000500000000000000" pitchFamily="2" charset="-78"/>
              </a:rPr>
              <a:t> Salah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Ghardaia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Chefrour</a:t>
            </a:r>
            <a:r>
              <a:rPr lang="fr-FR" altLang="fr-FR" sz="1200" dirty="0" smtClean="0">
                <a:latin typeface="Gadugi" panose="020B0502040204020203" pitchFamily="34" charset="0"/>
                <a:ea typeface="Cambria" panose="02040503050406030204" pitchFamily="18" charset="0"/>
                <a:cs typeface="Amiri" panose="00000500000000000000" pitchFamily="2" charset="-78"/>
              </a:rPr>
              <a:t> Azzedine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Souk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Ahras</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Pr. Hamel Tarek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Univ.Annaba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eaLnBrk="0" fontAlgn="base" hangingPunct="0">
              <a:lnSpc>
                <a:spcPct val="100000"/>
              </a:lnSpc>
              <a:spcBef>
                <a:spcPct val="0"/>
              </a:spcBef>
              <a:spcAft>
                <a:spcPct val="0"/>
              </a:spcAft>
              <a:buClrTx/>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Boudiaf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Imène</a:t>
            </a:r>
            <a:r>
              <a:rPr lang="fr-FR" altLang="fr-FR" sz="1200" dirty="0" smtClean="0">
                <a:latin typeface="Gadugi" panose="020B0502040204020203" pitchFamily="34" charset="0"/>
                <a:ea typeface="Cambria" panose="02040503050406030204" pitchFamily="18" charset="0"/>
                <a:cs typeface="Amiri" panose="00000500000000000000" pitchFamily="2" charset="-78"/>
              </a:rPr>
              <a:t>                            (vice-présidente,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eaLnBrk="0" fontAlgn="base" hangingPunct="0">
              <a:lnSpc>
                <a:spcPct val="100000"/>
              </a:lnSpc>
              <a:spcBef>
                <a:spcPct val="0"/>
              </a:spcBef>
              <a:spcAft>
                <a:spcPct val="0"/>
              </a:spcAft>
              <a:buClrTx/>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Hassaine</a:t>
            </a:r>
            <a:r>
              <a:rPr lang="fr-FR" altLang="fr-FR" sz="1200" dirty="0" smtClean="0">
                <a:latin typeface="Gadugi" panose="020B0502040204020203" pitchFamily="34" charset="0"/>
                <a:ea typeface="Cambria" panose="02040503050406030204" pitchFamily="18" charset="0"/>
                <a:cs typeface="Amiri" panose="00000500000000000000" pitchFamily="2" charset="-78"/>
              </a:rPr>
              <a:t> Amina                         (</a:t>
            </a:r>
            <a:r>
              <a:rPr lang="fr-FR" altLang="fr-FR" sz="1200" dirty="0">
                <a:latin typeface="Gadugi" panose="020B0502040204020203" pitchFamily="34" charset="0"/>
                <a:ea typeface="Cambria" panose="02040503050406030204" pitchFamily="18" charset="0"/>
                <a:cs typeface="Amiri" panose="00000500000000000000" pitchFamily="2" charset="-78"/>
              </a:rPr>
              <a:t>vice-présidente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a:t>
            </a:r>
          </a:p>
          <a:p>
            <a:pPr lvl="0" algn="just" eaLnBrk="0" fontAlgn="base" hangingPunct="0">
              <a:lnSpc>
                <a:spcPct val="100000"/>
              </a:lnSpc>
              <a:spcBef>
                <a:spcPct val="0"/>
              </a:spcBef>
              <a:spcAft>
                <a:spcPct val="0"/>
              </a:spcAft>
              <a:buClrTx/>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Ziane</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Hana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Slimani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Abderachid</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Univ.Annaba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Manamani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Mahbouba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Souk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Ahras</a:t>
            </a:r>
            <a:r>
              <a:rPr lang="fr-FR" altLang="fr-FR" sz="1200" dirty="0" smtClean="0">
                <a:latin typeface="Gadugi" panose="020B0502040204020203" pitchFamily="34" charset="0"/>
                <a:ea typeface="Cambria" panose="02040503050406030204" pitchFamily="18" charset="0"/>
                <a:cs typeface="Amiri" panose="00000500000000000000" pitchFamily="2" charset="-78"/>
              </a:rPr>
              <a:t>)</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Boumedris</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Zineddine</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ELTarf</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Messiad</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Rouhia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Guelma)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Tlili</a:t>
            </a:r>
            <a:r>
              <a:rPr lang="fr-FR" altLang="fr-FR" sz="1200" dirty="0" smtClean="0">
                <a:latin typeface="Gadugi" panose="020B0502040204020203" pitchFamily="34" charset="0"/>
                <a:ea typeface="Cambria" panose="02040503050406030204" pitchFamily="18" charset="0"/>
                <a:cs typeface="Amiri" panose="00000500000000000000" pitchFamily="2" charset="-78"/>
              </a:rPr>
              <a:t> Nadia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Zaoui</a:t>
            </a:r>
            <a:r>
              <a:rPr lang="fr-FR" altLang="fr-FR" sz="1200" dirty="0" smtClean="0">
                <a:latin typeface="Gadugi" panose="020B0502040204020203" pitchFamily="34" charset="0"/>
                <a:ea typeface="Cambria" panose="02040503050406030204" pitchFamily="18" charset="0"/>
                <a:cs typeface="Amiri" panose="00000500000000000000" pitchFamily="2" charset="-78"/>
              </a:rPr>
              <a:t> Lylia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Skikda)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Attab</a:t>
            </a:r>
            <a:r>
              <a:rPr lang="fr-FR" altLang="fr-FR" sz="1200" dirty="0" smtClean="0">
                <a:latin typeface="Gadugi" panose="020B0502040204020203" pitchFamily="34" charset="0"/>
                <a:ea typeface="Cambria" panose="02040503050406030204" pitchFamily="18" charset="0"/>
                <a:cs typeface="Amiri" panose="00000500000000000000" pitchFamily="2" charset="-78"/>
              </a:rPr>
              <a:t> Saliha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Chaker</a:t>
            </a:r>
            <a:r>
              <a:rPr lang="fr-FR" altLang="fr-FR" sz="1200" dirty="0" smtClean="0">
                <a:latin typeface="Gadugi" panose="020B0502040204020203" pitchFamily="34" charset="0"/>
                <a:ea typeface="Cambria" panose="02040503050406030204" pitchFamily="18" charset="0"/>
                <a:cs typeface="Amiri" panose="00000500000000000000" pitchFamily="2" charset="-78"/>
              </a:rPr>
              <a:t> Amina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Ksentini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Hana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Necib</a:t>
            </a:r>
            <a:r>
              <a:rPr lang="fr-FR" altLang="fr-FR" sz="1200" dirty="0" smtClean="0">
                <a:latin typeface="Gadugi" panose="020B0502040204020203" pitchFamily="34" charset="0"/>
                <a:ea typeface="Cambria" panose="02040503050406030204" pitchFamily="18" charset="0"/>
                <a:cs typeface="Amiri" panose="00000500000000000000" pitchFamily="2" charset="-78"/>
              </a:rPr>
              <a:t> Asma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Souk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Ahras</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Brakni</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Rafika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Gali</a:t>
            </a:r>
            <a:r>
              <a:rPr lang="fr-FR" altLang="fr-FR" sz="1200" dirty="0" smtClean="0">
                <a:latin typeface="Gadugi" panose="020B0502040204020203" pitchFamily="34" charset="0"/>
                <a:ea typeface="Cambria" panose="02040503050406030204" pitchFamily="18" charset="0"/>
                <a:cs typeface="Amiri" panose="00000500000000000000" pitchFamily="2" charset="-78"/>
              </a:rPr>
              <a:t> Lynda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CRBT.Constantine</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Adouane</a:t>
            </a:r>
            <a:r>
              <a:rPr lang="fr-FR" altLang="fr-FR" sz="1200" dirty="0" smtClean="0">
                <a:latin typeface="Gadugi" panose="020B0502040204020203" pitchFamily="34" charset="0"/>
                <a:ea typeface="Cambria" panose="02040503050406030204" pitchFamily="18" charset="0"/>
                <a:cs typeface="Amiri" panose="00000500000000000000" pitchFamily="2" charset="-78"/>
              </a:rPr>
              <a:t> Meriem                       (ENSF.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Khenchela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Bouakkadia</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Hayette</a:t>
            </a:r>
            <a:r>
              <a:rPr lang="fr-FR" altLang="fr-FR" sz="1200" dirty="0" smtClean="0">
                <a:latin typeface="Gadugi" panose="020B0502040204020203" pitchFamily="34" charset="0"/>
                <a:ea typeface="Cambria" panose="02040503050406030204" pitchFamily="18" charset="0"/>
                <a:cs typeface="Amiri" panose="00000500000000000000" pitchFamily="2" charset="-78"/>
              </a:rPr>
              <a:t>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Batna 1)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Ketif</a:t>
            </a:r>
            <a:r>
              <a:rPr lang="fr-FR" altLang="fr-FR" sz="1200" dirty="0" smtClean="0">
                <a:latin typeface="Gadugi" panose="020B0502040204020203" pitchFamily="34" charset="0"/>
                <a:ea typeface="Cambria" panose="02040503050406030204" pitchFamily="18" charset="0"/>
                <a:cs typeface="Amiri" panose="00000500000000000000" pitchFamily="2" charset="-78"/>
              </a:rPr>
              <a:t> Amel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Univ</a:t>
            </a:r>
            <a:r>
              <a:rPr lang="fr-FR" altLang="fr-FR" sz="1200" dirty="0" smtClean="0">
                <a:latin typeface="Gadugi" panose="020B0502040204020203" pitchFamily="34" charset="0"/>
                <a:ea typeface="Cambria" panose="02040503050406030204" pitchFamily="18" charset="0"/>
                <a:cs typeface="Amiri" panose="00000500000000000000" pitchFamily="2" charset="-78"/>
              </a:rPr>
              <a:t>. Annaba) </a:t>
            </a:r>
          </a:p>
          <a:p>
            <a:pPr lvl="0" algn="just" defTabSz="914400" eaLnBrk="0" fontAlgn="base" hangingPunct="0">
              <a:spcBef>
                <a:spcPct val="0"/>
              </a:spcBef>
              <a:spcAft>
                <a:spcPct val="0"/>
              </a:spcAft>
              <a:buFontTx/>
              <a:buChar char="•"/>
            </a:pPr>
            <a:r>
              <a:rPr lang="fr-FR" altLang="fr-FR" sz="1200" dirty="0" smtClean="0">
                <a:latin typeface="Gadugi" panose="020B0502040204020203" pitchFamily="34" charset="0"/>
                <a:ea typeface="Cambria" panose="02040503050406030204" pitchFamily="18" charset="0"/>
                <a:cs typeface="Amiri" panose="00000500000000000000" pitchFamily="2" charset="-78"/>
              </a:rPr>
              <a:t> Dr. </a:t>
            </a:r>
            <a:r>
              <a:rPr lang="fr-FR" altLang="fr-FR" sz="1200" dirty="0" err="1" smtClean="0">
                <a:latin typeface="Gadugi" panose="020B0502040204020203" pitchFamily="34" charset="0"/>
                <a:ea typeface="Cambria" panose="02040503050406030204" pitchFamily="18" charset="0"/>
                <a:cs typeface="Amiri" panose="00000500000000000000" pitchFamily="2" charset="-78"/>
              </a:rPr>
              <a:t>Kout</a:t>
            </a:r>
            <a:r>
              <a:rPr lang="fr-FR" altLang="fr-FR" sz="1200" dirty="0" smtClean="0">
                <a:latin typeface="Gadugi" panose="020B0502040204020203" pitchFamily="34" charset="0"/>
                <a:ea typeface="Cambria" panose="02040503050406030204" pitchFamily="18" charset="0"/>
                <a:cs typeface="Amiri" panose="00000500000000000000" pitchFamily="2" charset="-78"/>
              </a:rPr>
              <a:t> Samia                                (CRSP. Constantine</a:t>
            </a:r>
            <a:endParaRPr lang="fr-FR" sz="1200"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a:p>
            <a:pPr algn="just"/>
            <a:r>
              <a:rPr lang="fr-FR" sz="1200" cap="small" dirty="0" smtClean="0">
                <a:ln w="9525">
                  <a:solidFill>
                    <a:schemeClr val="accent1"/>
                  </a:solidFill>
                  <a:prstDash val="solid"/>
                </a:ln>
                <a:solidFill>
                  <a:schemeClr val="accent1"/>
                </a:solidFill>
                <a:latin typeface="Gadugi" panose="020B0502040204020203" pitchFamily="34" charset="0"/>
                <a:cs typeface="Times New Roman" panose="02020603050405020304" pitchFamily="18" charset="0"/>
              </a:rPr>
              <a:t> </a:t>
            </a:r>
            <a:endParaRPr lang="fr-FR" sz="1200" cap="small" dirty="0">
              <a:ln w="9525">
                <a:solidFill>
                  <a:schemeClr val="accent1"/>
                </a:solidFill>
                <a:prstDash val="solid"/>
              </a:ln>
              <a:solidFill>
                <a:schemeClr val="accent1"/>
              </a:solidFill>
              <a:latin typeface="Gadug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2268163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869</TotalTime>
  <Words>399</Words>
  <Application>Microsoft Office PowerPoint</Application>
  <PresentationFormat>Format A4 (210 x 297 mm)</PresentationFormat>
  <Paragraphs>94</Paragraphs>
  <Slides>3</Slides>
  <Notes>0</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3</vt:i4>
      </vt:variant>
    </vt:vector>
  </HeadingPairs>
  <TitlesOfParts>
    <vt:vector size="16" baseType="lpstr">
      <vt:lpstr>Algerian</vt:lpstr>
      <vt:lpstr>Amiri</vt:lpstr>
      <vt:lpstr>Arial</vt:lpstr>
      <vt:lpstr>Bell MT</vt:lpstr>
      <vt:lpstr>Calibri</vt:lpstr>
      <vt:lpstr>Calibri Light</vt:lpstr>
      <vt:lpstr>Cambria</vt:lpstr>
      <vt:lpstr>Gadugi</vt:lpstr>
      <vt:lpstr>Raavi</vt:lpstr>
      <vt:lpstr>SimHei</vt:lpstr>
      <vt:lpstr>Times New Roman</vt:lpstr>
      <vt:lpstr>Wingdings</vt:lpstr>
      <vt:lpstr>Office Theme</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Imene</dc:creator>
  <cp:lastModifiedBy>hp</cp:lastModifiedBy>
  <cp:revision>63</cp:revision>
  <dcterms:created xsi:type="dcterms:W3CDTF">2025-10-06T19:23:03Z</dcterms:created>
  <dcterms:modified xsi:type="dcterms:W3CDTF">2025-10-07T18:52:04Z</dcterms:modified>
</cp:coreProperties>
</file>